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86" r:id="rId6"/>
    <p:sldId id="287" r:id="rId7"/>
    <p:sldId id="288" r:id="rId8"/>
    <p:sldId id="289" r:id="rId9"/>
    <p:sldId id="290" r:id="rId10"/>
    <p:sldId id="291" r:id="rId11"/>
    <p:sldId id="292"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93" r:id="rId28"/>
    <p:sldId id="294" r:id="rId29"/>
    <p:sldId id="295" r:id="rId30"/>
    <p:sldId id="296" r:id="rId31"/>
    <p:sldId id="297" r:id="rId32"/>
    <p:sldId id="298" r:id="rId33"/>
    <p:sldId id="299" r:id="rId34"/>
    <p:sldId id="300" r:id="rId35"/>
    <p:sldId id="301" r:id="rId36"/>
    <p:sldId id="302" r:id="rId37"/>
    <p:sldId id="303" r:id="rId38"/>
    <p:sldId id="304" r:id="rId39"/>
    <p:sldId id="305" r:id="rId40"/>
    <p:sldId id="306" r:id="rId41"/>
    <p:sldId id="307" r:id="rId42"/>
    <p:sldId id="308" r:id="rId43"/>
    <p:sldId id="309" r:id="rId44"/>
    <p:sldId id="310" r:id="rId45"/>
    <p:sldId id="311" r:id="rId46"/>
    <p:sldId id="312" r:id="rId47"/>
    <p:sldId id="313" r:id="rId48"/>
    <p:sldId id="314" r:id="rId49"/>
    <p:sldId id="275" r:id="rId50"/>
    <p:sldId id="315" r:id="rId51"/>
    <p:sldId id="276" r:id="rId52"/>
    <p:sldId id="277" r:id="rId53"/>
    <p:sldId id="278" r:id="rId54"/>
    <p:sldId id="285" r:id="rId55"/>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6" d="100"/>
          <a:sy n="56" d="100"/>
        </p:scale>
        <p:origin x="61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857473" y="2184810"/>
            <a:ext cx="14554200" cy="2886710"/>
          </a:xfrm>
          <a:prstGeom prst="rect">
            <a:avLst/>
          </a:prstGeom>
        </p:spPr>
        <p:txBody>
          <a:bodyPr wrap="square" lIns="0" tIns="0" rIns="0" bIns="0">
            <a:spAutoFit/>
          </a:bodyPr>
          <a:lstStyle>
            <a:lvl1pPr>
              <a:defRPr sz="3600" b="1" i="0">
                <a:solidFill>
                  <a:schemeClr val="tx1"/>
                </a:solidFill>
                <a:latin typeface="Arial"/>
                <a:cs typeface="Arial"/>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2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43781" y="275000"/>
            <a:ext cx="10057645" cy="1020906"/>
          </a:xfrm>
          <a:prstGeom prst="rect">
            <a:avLst/>
          </a:prstGeom>
        </p:spPr>
        <p:txBody>
          <a:bodyPr wrap="square" lIns="0" tIns="0" rIns="0" bIns="0">
            <a:spAutoFit/>
          </a:bodyPr>
          <a:lstStyle>
            <a:lvl1pPr>
              <a:defRPr sz="3600" b="1" i="0">
                <a:solidFill>
                  <a:schemeClr val="tx1"/>
                </a:solidFill>
                <a:latin typeface="Arial"/>
                <a:cs typeface="Arial"/>
              </a:defRPr>
            </a:lvl1pPr>
          </a:lstStyle>
          <a:p>
            <a:endParaRPr/>
          </a:p>
        </p:txBody>
      </p:sp>
      <p:sp>
        <p:nvSpPr>
          <p:cNvPr id="3" name="Holder 3"/>
          <p:cNvSpPr>
            <a:spLocks noGrp="1"/>
          </p:cNvSpPr>
          <p:nvPr>
            <p:ph type="body" idx="1"/>
          </p:nvPr>
        </p:nvSpPr>
        <p:spPr>
          <a:xfrm>
            <a:off x="1039619" y="1669660"/>
            <a:ext cx="16208761" cy="3804920"/>
          </a:xfrm>
          <a:prstGeom prst="rect">
            <a:avLst/>
          </a:prstGeom>
        </p:spPr>
        <p:txBody>
          <a:bodyPr wrap="square" lIns="0" tIns="0" rIns="0" bIns="0">
            <a:spAutoFit/>
          </a:bodyPr>
          <a:lstStyle>
            <a:lvl1pPr>
              <a:defRPr sz="28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8/30/2026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5.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hyperlink" Target="https://github.com/VyasVraj/-Smart-Salinity-Ingress-Coastal-Farmland-Protection-Advisor-.git"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xfrm>
            <a:off x="1857472" y="2184811"/>
            <a:ext cx="15287527" cy="2927725"/>
          </a:xfrm>
          <a:prstGeom prst="rect">
            <a:avLst/>
          </a:prstGeom>
        </p:spPr>
        <p:txBody>
          <a:bodyPr vert="horz" wrap="square" lIns="0" tIns="181610" rIns="0" bIns="0" rtlCol="0">
            <a:spAutoFit/>
          </a:bodyPr>
          <a:lstStyle/>
          <a:p>
            <a:pPr marL="2311400" marR="5080" indent="-2299335">
              <a:lnSpc>
                <a:spcPts val="10650"/>
              </a:lnSpc>
              <a:spcBef>
                <a:spcPts val="1430"/>
              </a:spcBef>
              <a:tabLst>
                <a:tab pos="2435225" algn="l"/>
                <a:tab pos="6303645" algn="l"/>
                <a:tab pos="8040370" algn="l"/>
              </a:tabLst>
            </a:pPr>
            <a:r>
              <a:rPr sz="9600" spc="-25" dirty="0">
                <a:latin typeface="Times New Roman" panose="02020603050405020304" pitchFamily="18" charset="0"/>
                <a:cs typeface="Times New Roman" panose="02020603050405020304" pitchFamily="18" charset="0"/>
              </a:rPr>
              <a:t>IBM</a:t>
            </a:r>
            <a:r>
              <a:rPr lang="en-IN" sz="9600" spc="-25" dirty="0">
                <a:latin typeface="Times New Roman" panose="02020603050405020304" pitchFamily="18" charset="0"/>
                <a:cs typeface="Times New Roman" panose="02020603050405020304" pitchFamily="18" charset="0"/>
              </a:rPr>
              <a:t> </a:t>
            </a:r>
            <a:r>
              <a:rPr sz="9600" spc="-10" dirty="0">
                <a:latin typeface="Times New Roman" panose="02020603050405020304" pitchFamily="18" charset="0"/>
                <a:cs typeface="Times New Roman" panose="02020603050405020304" pitchFamily="18" charset="0"/>
              </a:rPr>
              <a:t>University</a:t>
            </a:r>
            <a:r>
              <a:rPr sz="9600" dirty="0">
                <a:latin typeface="Times New Roman" panose="02020603050405020304" pitchFamily="18" charset="0"/>
                <a:cs typeface="Times New Roman" panose="02020603050405020304" pitchFamily="18" charset="0"/>
              </a:rPr>
              <a:t>	</a:t>
            </a:r>
            <a:r>
              <a:rPr sz="9600" spc="-10" dirty="0">
                <a:latin typeface="Times New Roman" panose="02020603050405020304" pitchFamily="18" charset="0"/>
                <a:cs typeface="Times New Roman" panose="02020603050405020304" pitchFamily="18" charset="0"/>
              </a:rPr>
              <a:t>Engagement Project</a:t>
            </a:r>
            <a:r>
              <a:rPr sz="9600" dirty="0">
                <a:latin typeface="Times New Roman" panose="02020603050405020304" pitchFamily="18" charset="0"/>
                <a:cs typeface="Times New Roman" panose="02020603050405020304" pitchFamily="18" charset="0"/>
              </a:rPr>
              <a:t>	</a:t>
            </a:r>
            <a:r>
              <a:rPr sz="9600" spc="-10" dirty="0">
                <a:latin typeface="Times New Roman" panose="02020603050405020304" pitchFamily="18" charset="0"/>
                <a:cs typeface="Times New Roman" panose="02020603050405020304" pitchFamily="18" charset="0"/>
              </a:rPr>
              <a:t>Submission</a:t>
            </a:r>
            <a:endParaRPr sz="96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1600816" y="5811159"/>
            <a:ext cx="14285594" cy="574040"/>
          </a:xfrm>
          <a:prstGeom prst="rect">
            <a:avLst/>
          </a:prstGeom>
        </p:spPr>
        <p:txBody>
          <a:bodyPr vert="horz" wrap="square" lIns="0" tIns="12700" rIns="0" bIns="0" rtlCol="0">
            <a:spAutoFit/>
          </a:bodyPr>
          <a:lstStyle/>
          <a:p>
            <a:pPr marL="12700" algn="ctr">
              <a:lnSpc>
                <a:spcPct val="100000"/>
              </a:lnSpc>
              <a:spcBef>
                <a:spcPts val="100"/>
              </a:spcBef>
            </a:pPr>
            <a:r>
              <a:rPr sz="3600" spc="-10" dirty="0">
                <a:solidFill>
                  <a:srgbClr val="878787"/>
                </a:solidFill>
                <a:latin typeface="Times New Roman" panose="02020603050405020304" pitchFamily="18" charset="0"/>
                <a:cs typeface="Times New Roman" panose="02020603050405020304" pitchFamily="18" charset="0"/>
              </a:rPr>
              <a:t>“</a:t>
            </a:r>
            <a:r>
              <a:rPr lang="en-US" sz="3600" spc="-10" dirty="0">
                <a:solidFill>
                  <a:srgbClr val="878787"/>
                </a:solidFill>
                <a:latin typeface="Times New Roman" panose="02020603050405020304" pitchFamily="18" charset="0"/>
                <a:cs typeface="Times New Roman" panose="02020603050405020304" pitchFamily="18" charset="0"/>
              </a:rPr>
              <a:t>Smart Salinity Ingress &amp; Coastal Farmland Protection Advisor</a:t>
            </a:r>
            <a:r>
              <a:rPr sz="3600" spc="-10" dirty="0">
                <a:solidFill>
                  <a:srgbClr val="878787"/>
                </a:solidFill>
                <a:latin typeface="Times New Roman" panose="02020603050405020304" pitchFamily="18" charset="0"/>
                <a:cs typeface="Times New Roman" panose="02020603050405020304" pitchFamily="18" charset="0"/>
              </a:rPr>
              <a:t>”</a:t>
            </a:r>
            <a:endParaRPr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3111696273"/>
              </p:ext>
            </p:extLst>
          </p:nvPr>
        </p:nvGraphicFramePr>
        <p:xfrm>
          <a:off x="533400" y="1400386"/>
          <a:ext cx="17221199" cy="8636635"/>
        </p:xfrm>
        <a:graphic>
          <a:graphicData uri="http://schemas.openxmlformats.org/drawingml/2006/table">
            <a:tbl>
              <a:tblPr firstRow="1" bandRow="1">
                <a:tableStyleId>{2D5ABB26-0587-4C30-8999-92F81FD0307C}</a:tableStyleId>
              </a:tblPr>
              <a:tblGrid>
                <a:gridCol w="50292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495800">
                  <a:extLst>
                    <a:ext uri="{9D8B030D-6E8A-4147-A177-3AD203B41FA5}">
                      <a16:colId xmlns:a16="http://schemas.microsoft.com/office/drawing/2014/main" val="20002"/>
                    </a:ext>
                  </a:extLst>
                </a:gridCol>
                <a:gridCol w="3581399">
                  <a:extLst>
                    <a:ext uri="{9D8B030D-6E8A-4147-A177-3AD203B41FA5}">
                      <a16:colId xmlns:a16="http://schemas.microsoft.com/office/drawing/2014/main" val="20003"/>
                    </a:ext>
                  </a:extLst>
                </a:gridCol>
              </a:tblGrid>
              <a:tr h="1626235">
                <a:tc>
                  <a:txBody>
                    <a:bodyPr/>
                    <a:lstStyle/>
                    <a:p>
                      <a:pPr algn="ctr">
                        <a:lnSpc>
                          <a:spcPct val="100000"/>
                        </a:lnSpc>
                        <a:spcBef>
                          <a:spcPts val="1520"/>
                        </a:spcBef>
                      </a:pPr>
                      <a:endParaRPr sz="2700" dirty="0">
                        <a:latin typeface="Times New Roman"/>
                        <a:cs typeface="Times New Roman"/>
                      </a:endParaRPr>
                    </a:p>
                    <a:p>
                      <a:pPr marL="550545" algn="ctr">
                        <a:lnSpc>
                          <a:spcPct val="100000"/>
                        </a:lnSpc>
                      </a:pPr>
                      <a:r>
                        <a:rPr sz="2700" dirty="0">
                          <a:latin typeface="Arial"/>
                          <a:cs typeface="Arial"/>
                        </a:rPr>
                        <a:t>Student </a:t>
                      </a:r>
                      <a:r>
                        <a:rPr sz="2700" spc="-20" dirty="0">
                          <a:latin typeface="Arial"/>
                          <a:cs typeface="Arial"/>
                        </a:rPr>
                        <a:t>Name</a:t>
                      </a:r>
                      <a:endParaRPr sz="2700" dirty="0">
                        <a:latin typeface="Arial"/>
                        <a:cs typeface="Arial"/>
                      </a:endParaRPr>
                    </a:p>
                  </a:txBody>
                  <a:tcPr marL="0" marR="0" marT="1930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AD5"/>
                    </a:solidFill>
                  </a:tcPr>
                </a:tc>
                <a:tc>
                  <a:txBody>
                    <a:bodyPr/>
                    <a:lstStyle/>
                    <a:p>
                      <a:pPr algn="ctr">
                        <a:lnSpc>
                          <a:spcPct val="100000"/>
                        </a:lnSpc>
                        <a:spcBef>
                          <a:spcPts val="1520"/>
                        </a:spcBef>
                      </a:pPr>
                      <a:endParaRPr sz="2700" dirty="0">
                        <a:latin typeface="Times New Roman"/>
                        <a:cs typeface="Times New Roman"/>
                      </a:endParaRPr>
                    </a:p>
                    <a:p>
                      <a:pPr marL="181610" algn="ctr">
                        <a:lnSpc>
                          <a:spcPct val="100000"/>
                        </a:lnSpc>
                      </a:pPr>
                      <a:r>
                        <a:rPr sz="2700" dirty="0">
                          <a:latin typeface="Arial"/>
                          <a:cs typeface="Arial"/>
                        </a:rPr>
                        <a:t>Recent Passport </a:t>
                      </a:r>
                      <a:r>
                        <a:rPr sz="2700" spc="-10" dirty="0">
                          <a:latin typeface="Arial"/>
                          <a:cs typeface="Arial"/>
                        </a:rPr>
                        <a:t>Photo</a:t>
                      </a:r>
                      <a:endParaRPr lang="en-US" sz="2700" spc="-10" dirty="0">
                        <a:latin typeface="Arial"/>
                        <a:cs typeface="Arial"/>
                      </a:endParaRPr>
                    </a:p>
                  </a:txBody>
                  <a:tcPr marL="0" marR="0" marT="1930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AD5"/>
                    </a:solidFill>
                  </a:tcPr>
                </a:tc>
                <a:tc>
                  <a:txBody>
                    <a:bodyPr/>
                    <a:lstStyle/>
                    <a:p>
                      <a:pPr marL="1249680" algn="l">
                        <a:lnSpc>
                          <a:spcPct val="100000"/>
                        </a:lnSpc>
                      </a:pPr>
                      <a:endParaRPr lang="en-US" sz="2700" dirty="0">
                        <a:latin typeface="Arial"/>
                        <a:cs typeface="Arial"/>
                      </a:endParaRPr>
                    </a:p>
                    <a:p>
                      <a:pPr marL="1249680" algn="l">
                        <a:lnSpc>
                          <a:spcPct val="100000"/>
                        </a:lnSpc>
                      </a:pPr>
                      <a:r>
                        <a:rPr lang="en-US" sz="2700" dirty="0">
                          <a:latin typeface="Arial"/>
                          <a:cs typeface="Arial"/>
                        </a:rPr>
                        <a:t>Email</a:t>
                      </a:r>
                    </a:p>
                  </a:txBody>
                  <a:tcPr marL="0" marR="0" marT="1930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AD5"/>
                    </a:solidFill>
                  </a:tcPr>
                </a:tc>
                <a:tc>
                  <a:txBody>
                    <a:bodyPr/>
                    <a:lstStyle/>
                    <a:p>
                      <a:pPr marL="1010919" marR="803275" indent="-200660" algn="ctr">
                        <a:lnSpc>
                          <a:spcPts val="3229"/>
                        </a:lnSpc>
                        <a:spcBef>
                          <a:spcPts val="3090"/>
                        </a:spcBef>
                      </a:pPr>
                      <a:r>
                        <a:rPr sz="2700" dirty="0">
                          <a:latin typeface="Arial"/>
                          <a:cs typeface="Arial"/>
                        </a:rPr>
                        <a:t>Mobile </a:t>
                      </a:r>
                      <a:r>
                        <a:rPr sz="2700" spc="-10" dirty="0">
                          <a:latin typeface="Arial"/>
                          <a:cs typeface="Arial"/>
                        </a:rPr>
                        <a:t>number [WhatsApp]</a:t>
                      </a:r>
                      <a:endParaRPr sz="2700" dirty="0">
                        <a:latin typeface="Arial"/>
                        <a:cs typeface="Arial"/>
                      </a:endParaRPr>
                    </a:p>
                  </a:txBody>
                  <a:tcPr marL="0" marR="0" marT="3924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AD5"/>
                    </a:solidFill>
                  </a:tcPr>
                </a:tc>
                <a:extLst>
                  <a:ext uri="{0D108BD9-81ED-4DB2-BD59-A6C34878D82A}">
                    <a16:rowId xmlns:a16="http://schemas.microsoft.com/office/drawing/2014/main" val="10000"/>
                  </a:ext>
                </a:extLst>
              </a:tr>
              <a:tr h="713042">
                <a:tc>
                  <a:txBody>
                    <a:bodyPr/>
                    <a:lstStyle/>
                    <a:p>
                      <a:pPr marL="626745" algn="ctr">
                        <a:lnSpc>
                          <a:spcPct val="100000"/>
                        </a:lnSpc>
                        <a:spcBef>
                          <a:spcPts val="1135"/>
                        </a:spcBef>
                      </a:pPr>
                      <a:endParaRPr lang="en-US" sz="1800" dirty="0">
                        <a:latin typeface="Arial"/>
                        <a:cs typeface="Arial"/>
                      </a:endParaRPr>
                    </a:p>
                    <a:p>
                      <a:pPr marL="626745" algn="ctr">
                        <a:lnSpc>
                          <a:spcPct val="100000"/>
                        </a:lnSpc>
                        <a:spcBef>
                          <a:spcPts val="1135"/>
                        </a:spcBef>
                      </a:pPr>
                      <a:endParaRPr lang="en-US" sz="1800" dirty="0">
                        <a:latin typeface="Arial"/>
                        <a:cs typeface="Arial"/>
                      </a:endParaRPr>
                    </a:p>
                    <a:p>
                      <a:pPr marL="626745" algn="ctr">
                        <a:lnSpc>
                          <a:spcPct val="100000"/>
                        </a:lnSpc>
                        <a:spcBef>
                          <a:spcPts val="1135"/>
                        </a:spcBef>
                      </a:pPr>
                      <a:r>
                        <a:rPr lang="en-US" sz="1800" dirty="0">
                          <a:latin typeface="Arial"/>
                          <a:cs typeface="Arial"/>
                        </a:rPr>
                        <a:t>VYAS VRAJ JAYESHBHAI.</a:t>
                      </a:r>
                      <a:endParaRPr sz="1800" dirty="0">
                        <a:latin typeface="Arial"/>
                        <a:cs typeface="Arial"/>
                      </a:endParaRPr>
                    </a:p>
                  </a:txBody>
                  <a:tcPr marL="0" marR="0" marT="144145" marB="0">
                    <a:lnL w="12700">
                      <a:solidFill>
                        <a:srgbClr val="FFFFFF"/>
                      </a:solidFill>
                      <a:prstDash val="soli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0DEEF"/>
                    </a:solidFill>
                  </a:tcPr>
                </a:tc>
                <a:tc>
                  <a:txBody>
                    <a:bodyPr/>
                    <a:lstStyle/>
                    <a:p>
                      <a:pPr algn="ctr">
                        <a:lnSpc>
                          <a:spcPct val="100000"/>
                        </a:lnSpc>
                      </a:pPr>
                      <a:endParaRPr lang="en-US" sz="2300" dirty="0">
                        <a:latin typeface="Times New Roman"/>
                        <a:cs typeface="Times New Roman"/>
                      </a:endParaRPr>
                    </a:p>
                    <a:p>
                      <a:pPr algn="ctr">
                        <a:lnSpc>
                          <a:spcPct val="100000"/>
                        </a:lnSpc>
                      </a:pPr>
                      <a:endParaRPr lang="en-IN" sz="2300" dirty="0">
                        <a:latin typeface="Times New Roman"/>
                        <a:cs typeface="Times New Roman"/>
                      </a:endParaRPr>
                    </a:p>
                    <a:p>
                      <a:pPr algn="ctr">
                        <a:lnSpc>
                          <a:spcPct val="100000"/>
                        </a:lnSpc>
                      </a:pPr>
                      <a:endParaRPr lang="en-IN" sz="2300" dirty="0">
                        <a:latin typeface="Times New Roman"/>
                        <a:cs typeface="Times New Roman"/>
                      </a:endParaRPr>
                    </a:p>
                    <a:p>
                      <a:pPr algn="ctr">
                        <a:lnSpc>
                          <a:spcPct val="100000"/>
                        </a:lnSpc>
                      </a:pPr>
                      <a:endParaRPr lang="en-IN" sz="2300" dirty="0">
                        <a:latin typeface="Times New Roman"/>
                        <a:cs typeface="Times New Roman"/>
                      </a:endParaRPr>
                    </a:p>
                    <a:p>
                      <a:pPr algn="ctr">
                        <a:lnSpc>
                          <a:spcPct val="100000"/>
                        </a:lnSpc>
                      </a:pPr>
                      <a:endParaRPr lang="en-IN" sz="2300" dirty="0">
                        <a:latin typeface="Times New Roman"/>
                        <a:cs typeface="Times New Roman"/>
                      </a:endParaRPr>
                    </a:p>
                    <a:p>
                      <a:pPr algn="ctr">
                        <a:lnSpc>
                          <a:spcPct val="100000"/>
                        </a:lnSpc>
                      </a:pPr>
                      <a:endParaRPr lang="en-IN" sz="2300" dirty="0">
                        <a:latin typeface="Times New Roman"/>
                        <a:cs typeface="Times New Roman"/>
                      </a:endParaRPr>
                    </a:p>
                    <a:p>
                      <a:pPr algn="ctr">
                        <a:lnSpc>
                          <a:spcPct val="100000"/>
                        </a:lnSpc>
                      </a:pPr>
                      <a:endParaRPr sz="23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0DEEF"/>
                    </a:solidFill>
                  </a:tcPr>
                </a:tc>
                <a:tc>
                  <a:txBody>
                    <a:bodyPr/>
                    <a:lstStyle/>
                    <a:p>
                      <a:pPr marL="175260" algn="ctr">
                        <a:lnSpc>
                          <a:spcPct val="100000"/>
                        </a:lnSpc>
                        <a:spcBef>
                          <a:spcPts val="1180"/>
                        </a:spcBef>
                      </a:pPr>
                      <a:endParaRPr lang="en-US" sz="2200" dirty="0">
                        <a:latin typeface="Arial"/>
                        <a:cs typeface="Arial"/>
                      </a:endParaRPr>
                    </a:p>
                    <a:p>
                      <a:pPr marL="175260" algn="ctr">
                        <a:lnSpc>
                          <a:spcPct val="100000"/>
                        </a:lnSpc>
                        <a:spcBef>
                          <a:spcPts val="1180"/>
                        </a:spcBef>
                      </a:pPr>
                      <a:r>
                        <a:rPr lang="en-US" sz="2200" dirty="0">
                          <a:latin typeface="Arial"/>
                          <a:cs typeface="Arial"/>
                        </a:rPr>
                        <a:t>vyasvraj1815@gmail.com</a:t>
                      </a:r>
                      <a:endParaRPr sz="2200" dirty="0">
                        <a:latin typeface="Arial"/>
                        <a:cs typeface="Arial"/>
                      </a:endParaRPr>
                    </a:p>
                  </a:txBody>
                  <a:tcPr marL="0" marR="0" marT="149860" marB="0">
                    <a:lnL w="12700">
                      <a:solidFill>
                        <a:srgbClr val="FFFFFF"/>
                      </a:solidFill>
                      <a:prstDash val="soli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0DEEF"/>
                    </a:solidFill>
                  </a:tcPr>
                </a:tc>
                <a:tc>
                  <a:txBody>
                    <a:bodyPr/>
                    <a:lstStyle/>
                    <a:p>
                      <a:pPr marL="421640" algn="ctr">
                        <a:lnSpc>
                          <a:spcPct val="100000"/>
                        </a:lnSpc>
                        <a:spcBef>
                          <a:spcPts val="1165"/>
                        </a:spcBef>
                      </a:pPr>
                      <a:endParaRPr lang="en-US" sz="2300" dirty="0">
                        <a:latin typeface="Arial"/>
                        <a:cs typeface="Arial"/>
                      </a:endParaRPr>
                    </a:p>
                    <a:p>
                      <a:pPr marL="421640" algn="ctr">
                        <a:lnSpc>
                          <a:spcPct val="100000"/>
                        </a:lnSpc>
                        <a:spcBef>
                          <a:spcPts val="1165"/>
                        </a:spcBef>
                      </a:pPr>
                      <a:r>
                        <a:rPr lang="en-US" sz="2300" dirty="0">
                          <a:latin typeface="Arial"/>
                          <a:cs typeface="Arial"/>
                        </a:rPr>
                        <a:t>9913003111</a:t>
                      </a:r>
                    </a:p>
                  </a:txBody>
                  <a:tcPr marL="0" marR="0" marT="147955" marB="0">
                    <a:lnL w="12700">
                      <a:solidFill>
                        <a:srgbClr val="FFFFFF"/>
                      </a:solidFill>
                      <a:prstDash val="soli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0DEEF"/>
                    </a:solidFill>
                  </a:tcPr>
                </a:tc>
                <a:extLst>
                  <a:ext uri="{0D108BD9-81ED-4DB2-BD59-A6C34878D82A}">
                    <a16:rowId xmlns:a16="http://schemas.microsoft.com/office/drawing/2014/main" val="10001"/>
                  </a:ext>
                </a:extLst>
              </a:tr>
              <a:tr h="838200">
                <a:tc>
                  <a:txBody>
                    <a:bodyPr/>
                    <a:lstStyle/>
                    <a:p>
                      <a:pPr marL="626745" algn="ctr">
                        <a:lnSpc>
                          <a:spcPct val="100000"/>
                        </a:lnSpc>
                        <a:spcBef>
                          <a:spcPts val="1135"/>
                        </a:spcBef>
                      </a:pPr>
                      <a:endParaRPr lang="en-US" sz="1800" dirty="0">
                        <a:latin typeface="Arial"/>
                        <a:cs typeface="Arial"/>
                      </a:endParaRPr>
                    </a:p>
                    <a:p>
                      <a:pPr marL="626745" algn="ctr">
                        <a:lnSpc>
                          <a:spcPct val="100000"/>
                        </a:lnSpc>
                        <a:spcBef>
                          <a:spcPts val="1135"/>
                        </a:spcBef>
                      </a:pPr>
                      <a:endParaRPr lang="en-US" sz="1800" dirty="0">
                        <a:latin typeface="Arial"/>
                        <a:cs typeface="Arial"/>
                      </a:endParaRPr>
                    </a:p>
                    <a:p>
                      <a:pPr marL="626745" algn="ctr">
                        <a:lnSpc>
                          <a:spcPct val="100000"/>
                        </a:lnSpc>
                        <a:spcBef>
                          <a:spcPts val="1135"/>
                        </a:spcBef>
                      </a:pPr>
                      <a:r>
                        <a:rPr lang="en-US" sz="1800" dirty="0">
                          <a:latin typeface="Arial"/>
                          <a:cs typeface="Arial"/>
                        </a:rPr>
                        <a:t>DESAI DHYAN NILESHBHAI.</a:t>
                      </a:r>
                      <a:endParaRPr sz="1800" dirty="0">
                        <a:latin typeface="Arial"/>
                        <a:cs typeface="Arial"/>
                      </a:endParaRPr>
                    </a:p>
                  </a:txBody>
                  <a:tcPr marL="0" marR="0" marT="144145"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38100" cap="flat" cmpd="sng" algn="ctr">
                      <a:solidFill>
                        <a:srgbClr val="FFFFFF"/>
                      </a:solidFill>
                      <a:prstDash val="solid"/>
                      <a:round/>
                      <a:headEnd type="none" w="med" len="med"/>
                      <a:tailEnd type="none" w="med" len="med"/>
                    </a:lnB>
                    <a:solidFill>
                      <a:srgbClr val="D0DEEF"/>
                    </a:solidFill>
                  </a:tcPr>
                </a:tc>
                <a:tc>
                  <a:txBody>
                    <a:bodyPr/>
                    <a:lstStyle/>
                    <a:p>
                      <a:pPr algn="ctr">
                        <a:lnSpc>
                          <a:spcPct val="100000"/>
                        </a:lnSpc>
                      </a:pPr>
                      <a:endParaRPr lang="en-IN" sz="2300" dirty="0">
                        <a:latin typeface="Times New Roman"/>
                        <a:cs typeface="Times New Roman"/>
                      </a:endParaRPr>
                    </a:p>
                    <a:p>
                      <a:pPr algn="ctr">
                        <a:lnSpc>
                          <a:spcPct val="100000"/>
                        </a:lnSpc>
                      </a:pPr>
                      <a:endParaRPr lang="en-IN" sz="2300" dirty="0">
                        <a:latin typeface="Times New Roman"/>
                        <a:cs typeface="Times New Roman"/>
                      </a:endParaRPr>
                    </a:p>
                    <a:p>
                      <a:pPr algn="ctr">
                        <a:lnSpc>
                          <a:spcPct val="100000"/>
                        </a:lnSpc>
                      </a:pPr>
                      <a:endParaRPr lang="en-IN" sz="2300" dirty="0">
                        <a:latin typeface="Times New Roman"/>
                        <a:cs typeface="Times New Roman"/>
                      </a:endParaRPr>
                    </a:p>
                    <a:p>
                      <a:pPr algn="ctr">
                        <a:lnSpc>
                          <a:spcPct val="100000"/>
                        </a:lnSpc>
                      </a:pPr>
                      <a:endParaRPr lang="en-IN" sz="2300" dirty="0">
                        <a:latin typeface="Times New Roman"/>
                        <a:cs typeface="Times New Roman"/>
                      </a:endParaRPr>
                    </a:p>
                    <a:p>
                      <a:pPr algn="ctr">
                        <a:lnSpc>
                          <a:spcPct val="100000"/>
                        </a:lnSpc>
                      </a:pPr>
                      <a:endParaRPr lang="en-IN" sz="2300" dirty="0">
                        <a:latin typeface="Times New Roman"/>
                        <a:cs typeface="Times New Roman"/>
                      </a:endParaRPr>
                    </a:p>
                    <a:p>
                      <a:pPr algn="ctr">
                        <a:lnSpc>
                          <a:spcPct val="100000"/>
                        </a:lnSpc>
                      </a:pPr>
                      <a:endParaRPr lang="en-IN" sz="2300" dirty="0">
                        <a:latin typeface="Times New Roman"/>
                        <a:cs typeface="Times New Roman"/>
                      </a:endParaRPr>
                    </a:p>
                    <a:p>
                      <a:pPr algn="ctr">
                        <a:lnSpc>
                          <a:spcPct val="100000"/>
                        </a:lnSpc>
                      </a:pPr>
                      <a:endParaRPr sz="2300" dirty="0">
                        <a:latin typeface="Times New Roman"/>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a:solidFill>
                        <a:srgbClr val="FFFFFF"/>
                      </a:solidFill>
                      <a:prstDash val="solid"/>
                    </a:lnT>
                    <a:lnB w="38100" cap="flat" cmpd="sng" algn="ctr">
                      <a:solidFill>
                        <a:srgbClr val="FFFFFF"/>
                      </a:solidFill>
                      <a:prstDash val="solid"/>
                      <a:round/>
                      <a:headEnd type="none" w="med" len="med"/>
                      <a:tailEnd type="none" w="med" len="med"/>
                    </a:lnB>
                    <a:solidFill>
                      <a:srgbClr val="D0DEEF"/>
                    </a:solidFill>
                  </a:tcPr>
                </a:tc>
                <a:tc>
                  <a:txBody>
                    <a:bodyPr/>
                    <a:lstStyle/>
                    <a:p>
                      <a:pPr marL="175260" algn="ctr">
                        <a:lnSpc>
                          <a:spcPct val="100000"/>
                        </a:lnSpc>
                        <a:spcBef>
                          <a:spcPts val="1180"/>
                        </a:spcBef>
                      </a:pPr>
                      <a:endParaRPr lang="en-IN" sz="2200" dirty="0">
                        <a:latin typeface="Arial"/>
                        <a:cs typeface="Arial"/>
                      </a:endParaRPr>
                    </a:p>
                    <a:p>
                      <a:pPr marL="175260" algn="ctr">
                        <a:lnSpc>
                          <a:spcPct val="100000"/>
                        </a:lnSpc>
                        <a:spcBef>
                          <a:spcPts val="1180"/>
                        </a:spcBef>
                      </a:pPr>
                      <a:r>
                        <a:rPr lang="en-IN" sz="2200" dirty="0">
                          <a:latin typeface="Arial"/>
                          <a:cs typeface="Arial"/>
                        </a:rPr>
                        <a:t>desaidhyan205@gmail.com</a:t>
                      </a:r>
                      <a:endParaRPr sz="2200" dirty="0">
                        <a:latin typeface="Arial"/>
                        <a:cs typeface="Arial"/>
                      </a:endParaRPr>
                    </a:p>
                  </a:txBody>
                  <a:tcPr marL="0" marR="0" marT="14986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a:solidFill>
                        <a:srgbClr val="FFFFFF"/>
                      </a:solidFill>
                      <a:prstDash val="solid"/>
                    </a:lnT>
                    <a:lnB w="38100" cap="flat" cmpd="sng" algn="ctr">
                      <a:solidFill>
                        <a:srgbClr val="FFFFFF"/>
                      </a:solidFill>
                      <a:prstDash val="solid"/>
                      <a:round/>
                      <a:headEnd type="none" w="med" len="med"/>
                      <a:tailEnd type="none" w="med" len="med"/>
                    </a:lnB>
                    <a:solidFill>
                      <a:srgbClr val="D0DEEF"/>
                    </a:solidFill>
                  </a:tcPr>
                </a:tc>
                <a:tc>
                  <a:txBody>
                    <a:bodyPr/>
                    <a:lstStyle/>
                    <a:p>
                      <a:pPr marL="421640" algn="ctr">
                        <a:lnSpc>
                          <a:spcPct val="100000"/>
                        </a:lnSpc>
                        <a:spcBef>
                          <a:spcPts val="1165"/>
                        </a:spcBef>
                      </a:pPr>
                      <a:endParaRPr lang="en-US" sz="2300" dirty="0">
                        <a:latin typeface="Arial"/>
                        <a:cs typeface="Arial"/>
                      </a:endParaRPr>
                    </a:p>
                    <a:p>
                      <a:pPr marL="421640" algn="ctr">
                        <a:lnSpc>
                          <a:spcPct val="100000"/>
                        </a:lnSpc>
                        <a:spcBef>
                          <a:spcPts val="1165"/>
                        </a:spcBef>
                      </a:pPr>
                      <a:r>
                        <a:rPr lang="en-US" sz="2300" dirty="0">
                          <a:latin typeface="Arial"/>
                          <a:cs typeface="Arial"/>
                        </a:rPr>
                        <a:t>9898027030</a:t>
                      </a:r>
                      <a:endParaRPr sz="2300" dirty="0">
                        <a:latin typeface="Arial"/>
                        <a:cs typeface="Arial"/>
                      </a:endParaRPr>
                    </a:p>
                  </a:txBody>
                  <a:tcPr marL="0" marR="0" marT="147955" marB="0">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0DEEF"/>
                    </a:solidFill>
                  </a:tcPr>
                </a:tc>
                <a:extLst>
                  <a:ext uri="{0D108BD9-81ED-4DB2-BD59-A6C34878D82A}">
                    <a16:rowId xmlns:a16="http://schemas.microsoft.com/office/drawing/2014/main" val="4024259869"/>
                  </a:ext>
                </a:extLst>
              </a:tr>
              <a:tr h="720851">
                <a:tc>
                  <a:txBody>
                    <a:bodyPr/>
                    <a:lstStyle/>
                    <a:p>
                      <a:pPr marL="626745" algn="ctr">
                        <a:lnSpc>
                          <a:spcPct val="100000"/>
                        </a:lnSpc>
                        <a:spcBef>
                          <a:spcPts val="1135"/>
                        </a:spcBef>
                      </a:pPr>
                      <a:endParaRPr lang="en-US" sz="1800" dirty="0">
                        <a:latin typeface="Arial"/>
                        <a:cs typeface="Arial"/>
                      </a:endParaRPr>
                    </a:p>
                    <a:p>
                      <a:pPr marL="626745" algn="ctr">
                        <a:lnSpc>
                          <a:spcPct val="100000"/>
                        </a:lnSpc>
                        <a:spcBef>
                          <a:spcPts val="1135"/>
                        </a:spcBef>
                      </a:pPr>
                      <a:endParaRPr lang="en-US" sz="1800" dirty="0">
                        <a:latin typeface="Arial"/>
                        <a:cs typeface="Arial"/>
                      </a:endParaRPr>
                    </a:p>
                    <a:p>
                      <a:pPr marL="626745" algn="ctr">
                        <a:lnSpc>
                          <a:spcPct val="100000"/>
                        </a:lnSpc>
                        <a:spcBef>
                          <a:spcPts val="1135"/>
                        </a:spcBef>
                      </a:pPr>
                      <a:r>
                        <a:rPr lang="en-US" sz="1800" dirty="0">
                          <a:latin typeface="Arial"/>
                          <a:cs typeface="Arial"/>
                        </a:rPr>
                        <a:t>SUTHAR DARSHAN BHAVESHBHAI.</a:t>
                      </a:r>
                      <a:endParaRPr sz="1800" dirty="0">
                        <a:latin typeface="Arial"/>
                        <a:cs typeface="Arial"/>
                      </a:endParaRPr>
                    </a:p>
                  </a:txBody>
                  <a:tcPr marL="0" marR="0" marT="144145"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12700">
                      <a:solidFill>
                        <a:srgbClr val="FFFFFF"/>
                      </a:solidFill>
                      <a:prstDash val="solid"/>
                    </a:lnB>
                    <a:solidFill>
                      <a:srgbClr val="D0DEEF"/>
                    </a:solidFill>
                  </a:tcPr>
                </a:tc>
                <a:tc>
                  <a:txBody>
                    <a:bodyPr/>
                    <a:lstStyle/>
                    <a:p>
                      <a:pPr algn="ctr">
                        <a:lnSpc>
                          <a:spcPct val="100000"/>
                        </a:lnSpc>
                      </a:pPr>
                      <a:endParaRPr lang="en-IN" sz="2300" dirty="0">
                        <a:latin typeface="Times New Roman"/>
                        <a:cs typeface="Times New Roman"/>
                      </a:endParaRPr>
                    </a:p>
                    <a:p>
                      <a:pPr algn="ctr">
                        <a:lnSpc>
                          <a:spcPct val="100000"/>
                        </a:lnSpc>
                      </a:pPr>
                      <a:endParaRPr lang="en-IN" sz="2300" dirty="0">
                        <a:latin typeface="Times New Roman"/>
                        <a:cs typeface="Times New Roman"/>
                      </a:endParaRPr>
                    </a:p>
                    <a:p>
                      <a:pPr algn="ctr">
                        <a:lnSpc>
                          <a:spcPct val="100000"/>
                        </a:lnSpc>
                      </a:pPr>
                      <a:endParaRPr lang="en-IN" sz="2300" dirty="0">
                        <a:latin typeface="Times New Roman"/>
                        <a:cs typeface="Times New Roman"/>
                      </a:endParaRPr>
                    </a:p>
                    <a:p>
                      <a:pPr algn="ctr">
                        <a:lnSpc>
                          <a:spcPct val="100000"/>
                        </a:lnSpc>
                      </a:pPr>
                      <a:endParaRPr lang="en-IN" sz="2300" dirty="0">
                        <a:latin typeface="Times New Roman"/>
                        <a:cs typeface="Times New Roman"/>
                      </a:endParaRPr>
                    </a:p>
                    <a:p>
                      <a:pPr algn="ctr">
                        <a:lnSpc>
                          <a:spcPct val="100000"/>
                        </a:lnSpc>
                      </a:pPr>
                      <a:endParaRPr lang="en-IN" sz="2300" dirty="0">
                        <a:latin typeface="Times New Roman"/>
                        <a:cs typeface="Times New Roman"/>
                      </a:endParaRPr>
                    </a:p>
                    <a:p>
                      <a:pPr algn="ctr">
                        <a:lnSpc>
                          <a:spcPct val="100000"/>
                        </a:lnSpc>
                      </a:pPr>
                      <a:endParaRPr sz="2300" dirty="0">
                        <a:latin typeface="Times New Roman"/>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a:solidFill>
                        <a:srgbClr val="FFFFFF"/>
                      </a:solidFill>
                      <a:prstDash val="solid"/>
                    </a:lnT>
                    <a:lnB w="12700">
                      <a:solidFill>
                        <a:srgbClr val="FFFFFF"/>
                      </a:solidFill>
                      <a:prstDash val="solid"/>
                    </a:lnB>
                    <a:solidFill>
                      <a:srgbClr val="D0DEEF"/>
                    </a:solidFill>
                  </a:tcPr>
                </a:tc>
                <a:tc>
                  <a:txBody>
                    <a:bodyPr/>
                    <a:lstStyle/>
                    <a:p>
                      <a:pPr marL="175260" algn="ctr">
                        <a:lnSpc>
                          <a:spcPct val="100000"/>
                        </a:lnSpc>
                        <a:spcBef>
                          <a:spcPts val="1180"/>
                        </a:spcBef>
                      </a:pPr>
                      <a:endParaRPr lang="en-IN" sz="2200" dirty="0">
                        <a:latin typeface="Arial"/>
                        <a:cs typeface="Arial"/>
                      </a:endParaRPr>
                    </a:p>
                    <a:p>
                      <a:pPr marL="175260" algn="ctr">
                        <a:lnSpc>
                          <a:spcPct val="100000"/>
                        </a:lnSpc>
                        <a:spcBef>
                          <a:spcPts val="1180"/>
                        </a:spcBef>
                      </a:pPr>
                      <a:r>
                        <a:rPr lang="en-IN" sz="2200" dirty="0">
                          <a:latin typeface="Arial"/>
                          <a:cs typeface="Arial"/>
                        </a:rPr>
                        <a:t>suthardarshan484@gmail.com</a:t>
                      </a:r>
                      <a:endParaRPr sz="2200" dirty="0">
                        <a:latin typeface="Arial"/>
                        <a:cs typeface="Arial"/>
                      </a:endParaRPr>
                    </a:p>
                  </a:txBody>
                  <a:tcPr marL="0" marR="0" marT="14986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a:solidFill>
                        <a:srgbClr val="FFFFFF"/>
                      </a:solidFill>
                      <a:prstDash val="solid"/>
                    </a:lnT>
                    <a:lnB w="12700">
                      <a:solidFill>
                        <a:srgbClr val="FFFFFF"/>
                      </a:solidFill>
                      <a:prstDash val="solid"/>
                    </a:lnB>
                    <a:solidFill>
                      <a:srgbClr val="D0DEEF"/>
                    </a:solidFill>
                  </a:tcPr>
                </a:tc>
                <a:tc>
                  <a:txBody>
                    <a:bodyPr/>
                    <a:lstStyle/>
                    <a:p>
                      <a:pPr marL="421640" algn="ctr">
                        <a:lnSpc>
                          <a:spcPct val="100000"/>
                        </a:lnSpc>
                        <a:spcBef>
                          <a:spcPts val="1165"/>
                        </a:spcBef>
                      </a:pPr>
                      <a:endParaRPr lang="en-US" sz="2300" dirty="0">
                        <a:latin typeface="Arial"/>
                        <a:cs typeface="Arial"/>
                      </a:endParaRPr>
                    </a:p>
                    <a:p>
                      <a:pPr marL="421640" algn="ctr">
                        <a:lnSpc>
                          <a:spcPct val="100000"/>
                        </a:lnSpc>
                        <a:spcBef>
                          <a:spcPts val="1165"/>
                        </a:spcBef>
                      </a:pPr>
                      <a:r>
                        <a:rPr lang="en-US" sz="2300" dirty="0">
                          <a:latin typeface="Arial"/>
                          <a:cs typeface="Arial"/>
                        </a:rPr>
                        <a:t>7069825893</a:t>
                      </a:r>
                      <a:endParaRPr sz="2300" dirty="0">
                        <a:latin typeface="Arial"/>
                        <a:cs typeface="Arial"/>
                      </a:endParaRPr>
                    </a:p>
                  </a:txBody>
                  <a:tcPr marL="0" marR="0" marT="147955" marB="0">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12700">
                      <a:solidFill>
                        <a:srgbClr val="FFFFFF"/>
                      </a:solidFill>
                      <a:prstDash val="solid"/>
                    </a:lnB>
                    <a:solidFill>
                      <a:srgbClr val="D0DEEF"/>
                    </a:solidFill>
                  </a:tcPr>
                </a:tc>
                <a:extLst>
                  <a:ext uri="{0D108BD9-81ED-4DB2-BD59-A6C34878D82A}">
                    <a16:rowId xmlns:a16="http://schemas.microsoft.com/office/drawing/2014/main" val="309528955"/>
                  </a:ext>
                </a:extLst>
              </a:tr>
            </a:tbl>
          </a:graphicData>
        </a:graphic>
      </p:graphicFrame>
      <p:sp>
        <p:nvSpPr>
          <p:cNvPr id="4" name="object 4"/>
          <p:cNvSpPr txBox="1"/>
          <p:nvPr/>
        </p:nvSpPr>
        <p:spPr>
          <a:xfrm>
            <a:off x="929665" y="838403"/>
            <a:ext cx="7748270" cy="345440"/>
          </a:xfrm>
          <a:prstGeom prst="rect">
            <a:avLst/>
          </a:prstGeom>
        </p:spPr>
        <p:txBody>
          <a:bodyPr vert="horz" wrap="square" lIns="0" tIns="12700" rIns="0" bIns="0" rtlCol="0">
            <a:spAutoFit/>
          </a:bodyPr>
          <a:lstStyle/>
          <a:p>
            <a:pPr marL="12700">
              <a:lnSpc>
                <a:spcPct val="100000"/>
              </a:lnSpc>
              <a:spcBef>
                <a:spcPts val="100"/>
              </a:spcBef>
            </a:pPr>
            <a:r>
              <a:rPr sz="2100" dirty="0">
                <a:latin typeface="Arial"/>
                <a:cs typeface="Arial"/>
              </a:rPr>
              <a:t>Domain of Project – </a:t>
            </a:r>
            <a:r>
              <a:rPr lang="en-IN" sz="2100" dirty="0">
                <a:latin typeface="Arial"/>
                <a:cs typeface="Arial"/>
              </a:rPr>
              <a:t>Agriculture &amp; Coastal Resilience </a:t>
            </a:r>
            <a:endParaRPr sz="2100" dirty="0">
              <a:latin typeface="Arial"/>
              <a:cs typeface="Arial"/>
            </a:endParaRPr>
          </a:p>
        </p:txBody>
      </p:sp>
      <p:sp>
        <p:nvSpPr>
          <p:cNvPr id="5" name="object 5"/>
          <p:cNvSpPr txBox="1"/>
          <p:nvPr/>
        </p:nvSpPr>
        <p:spPr>
          <a:xfrm>
            <a:off x="929665" y="294401"/>
            <a:ext cx="9161017" cy="335989"/>
          </a:xfrm>
          <a:prstGeom prst="rect">
            <a:avLst/>
          </a:prstGeom>
        </p:spPr>
        <p:txBody>
          <a:bodyPr vert="horz" wrap="square" lIns="0" tIns="12700" rIns="0" bIns="0" rtlCol="0">
            <a:spAutoFit/>
          </a:bodyPr>
          <a:lstStyle/>
          <a:p>
            <a:pPr marL="12700">
              <a:lnSpc>
                <a:spcPct val="100000"/>
              </a:lnSpc>
              <a:spcBef>
                <a:spcPts val="100"/>
              </a:spcBef>
            </a:pPr>
            <a:r>
              <a:rPr sz="2100" dirty="0">
                <a:latin typeface="Arial"/>
                <a:cs typeface="Arial"/>
              </a:rPr>
              <a:t>Project Title –</a:t>
            </a:r>
            <a:r>
              <a:rPr lang="en-US" sz="2100" spc="-25" dirty="0">
                <a:latin typeface="Arial"/>
                <a:cs typeface="Arial"/>
              </a:rPr>
              <a:t> Smart Salinity Ingress &amp; Coastal Farmland Protection Advisor</a:t>
            </a:r>
            <a:endParaRPr sz="2100" dirty="0">
              <a:latin typeface="Arial"/>
              <a:cs typeface="Arial"/>
            </a:endParaRPr>
          </a:p>
        </p:txBody>
      </p:sp>
      <p:pic>
        <p:nvPicPr>
          <p:cNvPr id="9" name="Picture 8">
            <a:extLst>
              <a:ext uri="{FF2B5EF4-FFF2-40B4-BE49-F238E27FC236}">
                <a16:creationId xmlns:a16="http://schemas.microsoft.com/office/drawing/2014/main" id="{3792588F-5F0A-9646-5FF6-2B9E325BE8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91810" y="8022817"/>
            <a:ext cx="1593565" cy="1784524"/>
          </a:xfrm>
          <a:prstGeom prst="rect">
            <a:avLst/>
          </a:prstGeom>
        </p:spPr>
      </p:pic>
      <p:pic>
        <p:nvPicPr>
          <p:cNvPr id="11" name="Picture 10">
            <a:extLst>
              <a:ext uri="{FF2B5EF4-FFF2-40B4-BE49-F238E27FC236}">
                <a16:creationId xmlns:a16="http://schemas.microsoft.com/office/drawing/2014/main" id="{D99936E3-FC48-7C44-CB02-3DBC192910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74293" y="3206673"/>
            <a:ext cx="1557383" cy="1994543"/>
          </a:xfrm>
          <a:prstGeom prst="rect">
            <a:avLst/>
          </a:prstGeom>
        </p:spPr>
      </p:pic>
      <p:pic>
        <p:nvPicPr>
          <p:cNvPr id="13" name="Picture 12">
            <a:extLst>
              <a:ext uri="{FF2B5EF4-FFF2-40B4-BE49-F238E27FC236}">
                <a16:creationId xmlns:a16="http://schemas.microsoft.com/office/drawing/2014/main" id="{15D183C1-78A0-B3E6-1CF9-9B196E85335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20592" y="5614745"/>
            <a:ext cx="1664783" cy="199454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descr="$PPTXTitle"/>
          <p:cNvSpPr txBox="1">
            <a:spLocks noGrp="1"/>
          </p:cNvSpPr>
          <p:nvPr>
            <p:ph type="title"/>
          </p:nvPr>
        </p:nvSpPr>
        <p:spPr>
          <a:xfrm>
            <a:off x="685800" y="571799"/>
            <a:ext cx="17221200" cy="1120820"/>
          </a:xfrm>
          <a:prstGeom prst="rect">
            <a:avLst/>
          </a:prstGeom>
        </p:spPr>
        <p:txBody>
          <a:bodyPr vert="horz" wrap="square" lIns="0" tIns="12700" rIns="0" bIns="0" rtlCol="0">
            <a:spAutoFit/>
          </a:bodyPr>
          <a:lstStyle/>
          <a:p>
            <a:pPr marL="12700">
              <a:spcBef>
                <a:spcPts val="100"/>
              </a:spcBef>
            </a:pPr>
            <a:r>
              <a:rPr dirty="0">
                <a:latin typeface="Times New Roman" panose="02020603050405020304" pitchFamily="18" charset="0"/>
                <a:cs typeface="Times New Roman" panose="02020603050405020304" pitchFamily="18" charset="0"/>
              </a:rPr>
              <a:t>Problem Statement </a:t>
            </a:r>
            <a:r>
              <a:rPr spc="-50" dirty="0">
                <a:latin typeface="Times New Roman" panose="02020603050405020304" pitchFamily="18" charset="0"/>
                <a:cs typeface="Times New Roman" panose="02020603050405020304" pitchFamily="18" charset="0"/>
              </a:rPr>
              <a:t>-</a:t>
            </a:r>
            <a:r>
              <a:rPr lang="en-US" spc="-5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Smart Salinity Ingress &amp; Coastal Farmland Protection Advisor</a:t>
            </a:r>
            <a:br>
              <a:rPr lang="en-US" dirty="0">
                <a:latin typeface="Times New Roman" panose="02020603050405020304" pitchFamily="18" charset="0"/>
                <a:cs typeface="Times New Roman" panose="02020603050405020304" pitchFamily="18" charset="0"/>
              </a:rPr>
            </a:br>
            <a:endParaRPr spc="-5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259BFCC0-8E62-D5F2-CDCF-13277050618E}"/>
              </a:ext>
            </a:extLst>
          </p:cNvPr>
          <p:cNvSpPr txBox="1"/>
          <p:nvPr/>
        </p:nvSpPr>
        <p:spPr>
          <a:xfrm>
            <a:off x="685800" y="1866900"/>
            <a:ext cx="16230600" cy="7848302"/>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Challenge</a:t>
            </a:r>
            <a:r>
              <a:rPr lang="en-US" sz="2400" dirty="0">
                <a:latin typeface="Times New Roman" panose="02020603050405020304" pitchFamily="18" charset="0"/>
                <a:cs typeface="Times New Roman" panose="02020603050405020304" pitchFamily="18" charset="0"/>
              </a:rPr>
              <a:t>  – </a:t>
            </a:r>
            <a:r>
              <a:rPr lang="en-US" sz="2400" b="1" dirty="0">
                <a:latin typeface="Times New Roman" panose="02020603050405020304" pitchFamily="18" charset="0"/>
                <a:cs typeface="Times New Roman" panose="02020603050405020304" pitchFamily="18" charset="0"/>
              </a:rPr>
              <a:t>Smart Salinity Ingress &amp; Coastal Farmland Protection Advisor</a:t>
            </a:r>
          </a:p>
          <a:p>
            <a:r>
              <a:rPr lang="en-US" sz="2400" dirty="0">
                <a:latin typeface="Times New Roman" panose="02020603050405020304" pitchFamily="18" charset="0"/>
                <a:cs typeface="Times New Roman" panose="02020603050405020304" pitchFamily="18" charset="0"/>
              </a:rPr>
              <a:t> </a:t>
            </a:r>
          </a:p>
          <a:p>
            <a:r>
              <a:rPr lang="en-IN" sz="2400" b="1" dirty="0">
                <a:latin typeface="Times New Roman" panose="02020603050405020304" pitchFamily="18" charset="0"/>
                <a:cs typeface="Times New Roman" panose="02020603050405020304" pitchFamily="18" charset="0"/>
              </a:rPr>
              <a:t>Domain: </a:t>
            </a:r>
            <a:r>
              <a:rPr lang="en-IN" sz="2400" dirty="0">
                <a:latin typeface="Times New Roman" panose="02020603050405020304" pitchFamily="18" charset="0"/>
                <a:cs typeface="Times New Roman" panose="02020603050405020304" pitchFamily="18" charset="0"/>
              </a:rPr>
              <a:t>Agriculture &amp; Coastal Resilience </a:t>
            </a:r>
          </a:p>
          <a:p>
            <a:endParaRPr lang="en-IN"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The Challenge </a:t>
            </a:r>
          </a:p>
          <a:p>
            <a:r>
              <a:rPr lang="en-US" sz="2400" dirty="0">
                <a:latin typeface="Times New Roman" panose="02020603050405020304" pitchFamily="18" charset="0"/>
                <a:cs typeface="Times New Roman" panose="02020603050405020304" pitchFamily="18" charset="0"/>
              </a:rPr>
              <a:t>Coastal districts of Gujarat such as Bhavnagar, Jamnagar, and Kutch face increasing seawater ingress into groundwater and farmland, degrading soil quality and reducing crop yields. Farmers lack timely, localized guidance on salinity-resistant crops and mitigation practices. </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Objective </a:t>
            </a:r>
          </a:p>
          <a:p>
            <a:r>
              <a:rPr lang="en-US" sz="2400" dirty="0">
                <a:latin typeface="Times New Roman" panose="02020603050405020304" pitchFamily="18" charset="0"/>
                <a:cs typeface="Times New Roman" panose="02020603050405020304" pitchFamily="18" charset="0"/>
              </a:rPr>
              <a:t>Build Agentic AI solutions that monitor soil and groundwater salinity trends, recommend </a:t>
            </a:r>
            <a:r>
              <a:rPr lang="en-US" sz="2400" dirty="0" err="1">
                <a:latin typeface="Times New Roman" panose="02020603050405020304" pitchFamily="18" charset="0"/>
                <a:cs typeface="Times New Roman" panose="02020603050405020304" pitchFamily="18" charset="0"/>
              </a:rPr>
              <a:t>salttolerant</a:t>
            </a:r>
            <a:r>
              <a:rPr lang="en-US" sz="2400" dirty="0">
                <a:latin typeface="Times New Roman" panose="02020603050405020304" pitchFamily="18" charset="0"/>
                <a:cs typeface="Times New Roman" panose="02020603050405020304" pitchFamily="18" charset="0"/>
              </a:rPr>
              <a:t> crop alternatives, and guide farmers on land reclamation and irrigation practices. </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Suggested AI Agents </a:t>
            </a:r>
          </a:p>
          <a:p>
            <a:r>
              <a:rPr lang="en-IN" sz="2400" dirty="0">
                <a:latin typeface="Times New Roman" panose="02020603050405020304" pitchFamily="18" charset="0"/>
                <a:cs typeface="Times New Roman" panose="02020603050405020304" pitchFamily="18" charset="0"/>
              </a:rPr>
              <a:t>• Soil &amp; Groundwater Salinity Monitoring Agent </a:t>
            </a:r>
          </a:p>
          <a:p>
            <a:r>
              <a:rPr lang="en-IN" sz="2400" dirty="0">
                <a:latin typeface="Times New Roman" panose="02020603050405020304" pitchFamily="18" charset="0"/>
                <a:cs typeface="Times New Roman" panose="02020603050405020304" pitchFamily="18" charset="0"/>
              </a:rPr>
              <a:t>• Salinity-Resistant Crop Advisory Agent </a:t>
            </a:r>
          </a:p>
          <a:p>
            <a:r>
              <a:rPr lang="en-IN" sz="2400" dirty="0">
                <a:latin typeface="Times New Roman" panose="02020603050405020304" pitchFamily="18" charset="0"/>
                <a:cs typeface="Times New Roman" panose="02020603050405020304" pitchFamily="18" charset="0"/>
              </a:rPr>
              <a:t>• Irrigation &amp; Land Reclamation Planning Agent </a:t>
            </a:r>
          </a:p>
          <a:p>
            <a:r>
              <a:rPr lang="en-IN" sz="2400" dirty="0">
                <a:latin typeface="Times New Roman" panose="02020603050405020304" pitchFamily="18" charset="0"/>
                <a:cs typeface="Times New Roman" panose="02020603050405020304" pitchFamily="18" charset="0"/>
              </a:rPr>
              <a:t>• Farmer Alert &amp; Advisory Agent </a:t>
            </a:r>
          </a:p>
          <a:p>
            <a:r>
              <a:rPr lang="en-IN" sz="2400" dirty="0">
                <a:latin typeface="Times New Roman" panose="02020603050405020304" pitchFamily="18" charset="0"/>
                <a:cs typeface="Times New Roman" panose="02020603050405020304" pitchFamily="18" charset="0"/>
              </a:rPr>
              <a:t>• Coastal Farmland Health Dashboard Agent </a:t>
            </a:r>
          </a:p>
          <a:p>
            <a:endParaRPr lang="en-IN"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Technology to be used </a:t>
            </a:r>
            <a:r>
              <a:rPr lang="en-US" sz="2400" dirty="0">
                <a:latin typeface="Times New Roman" panose="02020603050405020304" pitchFamily="18" charset="0"/>
                <a:cs typeface="Times New Roman" panose="02020603050405020304" pitchFamily="18" charset="0"/>
              </a:rPr>
              <a:t>– IBM Bob + IBM Granite LLM + IBM cloud </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78E2E8EB-969D-5B2E-32B4-CDAE3E41E6D2}"/>
              </a:ext>
            </a:extLst>
          </p:cNvPr>
          <p:cNvSpPr>
            <a:spLocks noGrp="1"/>
          </p:cNvSpPr>
          <p:nvPr>
            <p:ph type="title"/>
          </p:nvPr>
        </p:nvSpPr>
        <p:spPr>
          <a:xfrm>
            <a:off x="135340" y="114300"/>
            <a:ext cx="17715619" cy="492443"/>
          </a:xfrm>
        </p:spPr>
        <p:txBody>
          <a:bodyPr/>
          <a:lstStyle/>
          <a:p>
            <a:r>
              <a:rPr lang="en-US" sz="3200" dirty="0"/>
              <a:t>PROPOSED SOLUTION : Smart Salinity Ingress &amp; Coastal Farmland Protection Advisor </a:t>
            </a:r>
            <a:endParaRPr lang="en-IN" sz="3200" dirty="0"/>
          </a:p>
        </p:txBody>
      </p:sp>
      <p:sp>
        <p:nvSpPr>
          <p:cNvPr id="26" name="TextBox 25">
            <a:extLst>
              <a:ext uri="{FF2B5EF4-FFF2-40B4-BE49-F238E27FC236}">
                <a16:creationId xmlns:a16="http://schemas.microsoft.com/office/drawing/2014/main" id="{3A7FABB2-3B8D-55AE-DD48-4BE2E4A6157F}"/>
              </a:ext>
            </a:extLst>
          </p:cNvPr>
          <p:cNvSpPr txBox="1"/>
          <p:nvPr/>
        </p:nvSpPr>
        <p:spPr>
          <a:xfrm>
            <a:off x="137614" y="684371"/>
            <a:ext cx="17921785" cy="9602629"/>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Salinity Shield AI: An AI-Powered Coastal Farmland Intelligence &amp; Early-Warning System</a:t>
            </a:r>
          </a:p>
          <a:p>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Salinity Shield AI</a:t>
            </a:r>
            <a:r>
              <a:rPr lang="en-IN" sz="2000" dirty="0">
                <a:latin typeface="Times New Roman" panose="02020603050405020304" pitchFamily="18" charset="0"/>
                <a:cs typeface="Times New Roman" panose="02020603050405020304" pitchFamily="18" charset="0"/>
              </a:rPr>
              <a:t> is a smart agricultural decision-support platform designed to help farmers and agricultural authorities </a:t>
            </a:r>
            <a:r>
              <a:rPr lang="en-IN" sz="2000" b="1" dirty="0">
                <a:latin typeface="Times New Roman" panose="02020603050405020304" pitchFamily="18" charset="0"/>
                <a:cs typeface="Times New Roman" panose="02020603050405020304" pitchFamily="18" charset="0"/>
              </a:rPr>
              <a:t>detect, predict, understand, and manage soil salinity in coastal farmland</a:t>
            </a:r>
            <a:r>
              <a:rPr lang="en-IN" sz="2000" dirty="0">
                <a:latin typeface="Times New Roman" panose="02020603050405020304" pitchFamily="18" charset="0"/>
                <a:cs typeface="Times New Roman" panose="02020603050405020304" pitchFamily="18" charset="0"/>
              </a:rPr>
              <a:t>. The system combines </a:t>
            </a:r>
            <a:r>
              <a:rPr lang="en-IN" sz="2000" b="1" dirty="0">
                <a:latin typeface="Times New Roman" panose="02020603050405020304" pitchFamily="18" charset="0"/>
                <a:cs typeface="Times New Roman" panose="02020603050405020304" pitchFamily="18" charset="0"/>
              </a:rPr>
              <a:t>IoT/sensor data, AI analytics, geospatial risk mapping, forecasting, alerts, and actionable recommendations</a:t>
            </a:r>
            <a:r>
              <a:rPr lang="en-IN" sz="2000" dirty="0">
                <a:latin typeface="Times New Roman" panose="02020603050405020304" pitchFamily="18" charset="0"/>
                <a:cs typeface="Times New Roman" panose="02020603050405020304" pitchFamily="18" charset="0"/>
              </a:rPr>
              <a:t> to prevent salinity from reducing soil quality, crop productivity, and long-term farmland sustainability.</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1. Problem Addressed</a:t>
            </a:r>
          </a:p>
          <a:p>
            <a:r>
              <a:rPr lang="en-IN" sz="2000" dirty="0">
                <a:latin typeface="Times New Roman" panose="02020603050405020304" pitchFamily="18" charset="0"/>
                <a:cs typeface="Times New Roman" panose="02020603050405020304" pitchFamily="18" charset="0"/>
              </a:rPr>
              <a:t>Coastal agricultural regions, particularly areas of Gujarat, face increasing risks from:</a:t>
            </a:r>
          </a:p>
          <a:p>
            <a:pPr lvl="0"/>
            <a:r>
              <a:rPr lang="en-IN" sz="2000" b="1" dirty="0">
                <a:latin typeface="Times New Roman" panose="02020603050405020304" pitchFamily="18" charset="0"/>
                <a:cs typeface="Times New Roman" panose="02020603050405020304" pitchFamily="18" charset="0"/>
              </a:rPr>
              <a:t>Seawater intrusion</a:t>
            </a:r>
            <a:r>
              <a:rPr lang="en-IN" sz="2000" dirty="0">
                <a:latin typeface="Times New Roman" panose="02020603050405020304" pitchFamily="18" charset="0"/>
                <a:cs typeface="Times New Roman" panose="02020603050405020304" pitchFamily="18" charset="0"/>
              </a:rPr>
              <a:t> </a:t>
            </a:r>
          </a:p>
          <a:p>
            <a:pPr lvl="0"/>
            <a:r>
              <a:rPr lang="en-IN" sz="2000" dirty="0">
                <a:latin typeface="Times New Roman" panose="02020603050405020304" pitchFamily="18" charset="0"/>
                <a:cs typeface="Times New Roman" panose="02020603050405020304" pitchFamily="18" charset="0"/>
              </a:rPr>
              <a:t>Rising soil salinity </a:t>
            </a:r>
          </a:p>
          <a:p>
            <a:pPr lvl="0"/>
            <a:r>
              <a:rPr lang="en-IN" sz="2000" dirty="0">
                <a:latin typeface="Times New Roman" panose="02020603050405020304" pitchFamily="18" charset="0"/>
                <a:cs typeface="Times New Roman" panose="02020603050405020304" pitchFamily="18" charset="0"/>
              </a:rPr>
              <a:t>Saline irrigation water </a:t>
            </a:r>
          </a:p>
          <a:p>
            <a:pPr lvl="0"/>
            <a:r>
              <a:rPr lang="en-IN" sz="2000" dirty="0">
                <a:latin typeface="Times New Roman" panose="02020603050405020304" pitchFamily="18" charset="0"/>
                <a:cs typeface="Times New Roman" panose="02020603050405020304" pitchFamily="18" charset="0"/>
              </a:rPr>
              <a:t>Poor drainage and waterlogging </a:t>
            </a:r>
          </a:p>
          <a:p>
            <a:pPr lvl="0"/>
            <a:r>
              <a:rPr lang="en-IN" sz="2000" dirty="0">
                <a:latin typeface="Times New Roman" panose="02020603050405020304" pitchFamily="18" charset="0"/>
                <a:cs typeface="Times New Roman" panose="02020603050405020304" pitchFamily="18" charset="0"/>
              </a:rPr>
              <a:t>Irregular rainfall </a:t>
            </a:r>
          </a:p>
          <a:p>
            <a:pPr lvl="0"/>
            <a:r>
              <a:rPr lang="en-IN" sz="2000" dirty="0">
                <a:latin typeface="Times New Roman" panose="02020603050405020304" pitchFamily="18" charset="0"/>
                <a:cs typeface="Times New Roman" panose="02020603050405020304" pitchFamily="18" charset="0"/>
              </a:rPr>
              <a:t>Excessive irrigation </a:t>
            </a:r>
          </a:p>
          <a:p>
            <a:pPr lvl="0"/>
            <a:r>
              <a:rPr lang="en-IN" sz="2000" dirty="0">
                <a:latin typeface="Times New Roman" panose="02020603050405020304" pitchFamily="18" charset="0"/>
                <a:cs typeface="Times New Roman" panose="02020603050405020304" pitchFamily="18" charset="0"/>
              </a:rPr>
              <a:t>Changing climatic conditions </a:t>
            </a:r>
          </a:p>
          <a:p>
            <a:pPr lvl="0"/>
            <a:r>
              <a:rPr lang="en-IN" sz="2000" dirty="0">
                <a:latin typeface="Times New Roman" panose="02020603050405020304" pitchFamily="18" charset="0"/>
                <a:cs typeface="Times New Roman" panose="02020603050405020304" pitchFamily="18" charset="0"/>
              </a:rPr>
              <a:t>Gradual degradation of agricultural soil </a:t>
            </a:r>
          </a:p>
          <a:p>
            <a:pPr lvl="0"/>
            <a:r>
              <a:rPr lang="en-IN" sz="2000" dirty="0">
                <a:latin typeface="Times New Roman" panose="02020603050405020304" pitchFamily="18" charset="0"/>
                <a:cs typeface="Times New Roman" panose="02020603050405020304" pitchFamily="18" charset="0"/>
              </a:rPr>
              <a:t>Reduced crop productivity </a:t>
            </a:r>
          </a:p>
          <a:p>
            <a:pPr lvl="0"/>
            <a:r>
              <a:rPr lang="en-IN" sz="2000" dirty="0">
                <a:latin typeface="Times New Roman" panose="02020603050405020304" pitchFamily="18" charset="0"/>
                <a:cs typeface="Times New Roman" panose="02020603050405020304" pitchFamily="18" charset="0"/>
              </a:rPr>
              <a:t>Lack of timely and understandable information for farmers </a:t>
            </a:r>
          </a:p>
          <a:p>
            <a:pPr lvl="0"/>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The major challenge is that </a:t>
            </a:r>
            <a:r>
              <a:rPr lang="en-IN" sz="2000" b="1" dirty="0">
                <a:latin typeface="Times New Roman" panose="02020603050405020304" pitchFamily="18" charset="0"/>
                <a:cs typeface="Times New Roman" panose="02020603050405020304" pitchFamily="18" charset="0"/>
              </a:rPr>
              <a:t>soil salinity often becomes visible only after significant damage has already occurred</a:t>
            </a:r>
            <a:r>
              <a:rPr lang="en-IN"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Farmers may have sensor readings or agricultural data, but raw values such as </a:t>
            </a:r>
            <a:r>
              <a:rPr lang="en-IN" sz="2000" b="1" dirty="0">
                <a:latin typeface="Times New Roman" panose="02020603050405020304" pitchFamily="18" charset="0"/>
                <a:cs typeface="Times New Roman" panose="02020603050405020304" pitchFamily="18" charset="0"/>
              </a:rPr>
              <a:t>EC (Electrical Conductivity), soil moisture, pH, and temperature</a:t>
            </a:r>
            <a:r>
              <a:rPr lang="en-IN" sz="2000" dirty="0">
                <a:latin typeface="Times New Roman" panose="02020603050405020304" pitchFamily="18" charset="0"/>
                <a:cs typeface="Times New Roman" panose="02020603050405020304" pitchFamily="18" charset="0"/>
              </a:rPr>
              <a:t> do not directly tell them:</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What is happening?</a:t>
            </a:r>
          </a:p>
          <a:p>
            <a:r>
              <a:rPr lang="en-IN" sz="2000" dirty="0">
                <a:latin typeface="Times New Roman" panose="02020603050405020304" pitchFamily="18" charset="0"/>
                <a:cs typeface="Times New Roman" panose="02020603050405020304" pitchFamily="18" charset="0"/>
              </a:rPr>
              <a:t> Why is it happening? </a:t>
            </a:r>
          </a:p>
          <a:p>
            <a:r>
              <a:rPr lang="en-IN" sz="2000" dirty="0">
                <a:latin typeface="Times New Roman" panose="02020603050405020304" pitchFamily="18" charset="0"/>
                <a:cs typeface="Times New Roman" panose="02020603050405020304" pitchFamily="18" charset="0"/>
              </a:rPr>
              <a:t>What will happen next? </a:t>
            </a:r>
          </a:p>
          <a:p>
            <a:r>
              <a:rPr lang="en-IN" sz="2000" dirty="0">
                <a:latin typeface="Times New Roman" panose="02020603050405020304" pitchFamily="18" charset="0"/>
                <a:cs typeface="Times New Roman" panose="02020603050405020304" pitchFamily="18" charset="0"/>
              </a:rPr>
              <a:t>And what should I do now?</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Salinity Shield AI converts these raw agricultural signals into understandable risk scores, predictions, explanations, alerts, and recommended actions.</a:t>
            </a:r>
            <a:endParaRPr lang="en-IN" sz="20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A44039D-02EB-7029-DE62-BE1382ACBF49}"/>
              </a:ext>
            </a:extLst>
          </p:cNvPr>
          <p:cNvSpPr>
            <a:spLocks noGrp="1"/>
          </p:cNvSpPr>
          <p:nvPr>
            <p:ph type="body" idx="1"/>
          </p:nvPr>
        </p:nvSpPr>
        <p:spPr>
          <a:xfrm>
            <a:off x="304799" y="266700"/>
            <a:ext cx="17678401" cy="9356408"/>
          </a:xfrm>
        </p:spPr>
        <p:txBody>
          <a:bodyPr/>
          <a:lstStyle/>
          <a:p>
            <a:r>
              <a:rPr lang="en-IN" sz="2000" b="1" dirty="0"/>
              <a:t>2. Proposed Solution</a:t>
            </a:r>
          </a:p>
          <a:p>
            <a:r>
              <a:rPr lang="en-IN" sz="2000" dirty="0"/>
              <a:t>The platform creates a </a:t>
            </a:r>
            <a:r>
              <a:rPr lang="en-IN" sz="2000" b="1" dirty="0"/>
              <a:t>digital intelligence layer for every farm</a:t>
            </a:r>
            <a:r>
              <a:rPr lang="en-IN" sz="2000" dirty="0"/>
              <a:t>.</a:t>
            </a:r>
          </a:p>
          <a:p>
            <a:endParaRPr lang="en-IN" sz="2000" dirty="0"/>
          </a:p>
          <a:p>
            <a:r>
              <a:rPr lang="en-IN" sz="2000" b="1" dirty="0"/>
              <a:t>Data → Detection → Risk Analysis → Prediction → AI Explanation → Action → Monitoring</a:t>
            </a:r>
          </a:p>
          <a:p>
            <a:endParaRPr lang="en-IN" sz="2000" b="1" dirty="0"/>
          </a:p>
          <a:p>
            <a:r>
              <a:rPr lang="en-IN" sz="2000" dirty="0"/>
              <a:t>The system continuously analyses farm conditions and determines:</a:t>
            </a:r>
          </a:p>
          <a:p>
            <a:pPr lvl="0"/>
            <a:r>
              <a:rPr lang="en-IN" sz="2000" dirty="0"/>
              <a:t>Current soil salinity level </a:t>
            </a:r>
          </a:p>
          <a:p>
            <a:pPr lvl="0"/>
            <a:r>
              <a:rPr lang="en-IN" sz="2000" dirty="0"/>
              <a:t>Salinity risk </a:t>
            </a:r>
          </a:p>
          <a:p>
            <a:pPr lvl="0"/>
            <a:r>
              <a:rPr lang="en-IN" sz="2000" dirty="0"/>
              <a:t>Rate of salinity change </a:t>
            </a:r>
          </a:p>
          <a:p>
            <a:pPr lvl="0"/>
            <a:r>
              <a:rPr lang="en-IN" sz="2000" dirty="0"/>
              <a:t>Farm health </a:t>
            </a:r>
          </a:p>
          <a:p>
            <a:pPr lvl="0"/>
            <a:r>
              <a:rPr lang="en-IN" sz="2000" dirty="0"/>
              <a:t>Whether conditions are improving or worsening </a:t>
            </a:r>
          </a:p>
          <a:p>
            <a:pPr lvl="0"/>
            <a:r>
              <a:rPr lang="en-IN" sz="2000" dirty="0"/>
              <a:t>Possible causes </a:t>
            </a:r>
          </a:p>
          <a:p>
            <a:pPr lvl="0"/>
            <a:r>
              <a:rPr lang="en-IN" sz="2000" dirty="0"/>
              <a:t>Future salinity risk </a:t>
            </a:r>
          </a:p>
          <a:p>
            <a:pPr lvl="0"/>
            <a:r>
              <a:rPr lang="en-IN" sz="2000" dirty="0"/>
              <a:t>Suitable intervention </a:t>
            </a:r>
          </a:p>
          <a:p>
            <a:pPr lvl="0"/>
            <a:r>
              <a:rPr lang="en-IN" sz="2000" dirty="0"/>
              <a:t>Expected outcome of an intervention </a:t>
            </a:r>
          </a:p>
          <a:p>
            <a:r>
              <a:rPr lang="en-IN" sz="2000" dirty="0"/>
              <a:t>This allows farmers to move from </a:t>
            </a:r>
            <a:r>
              <a:rPr lang="en-IN" sz="2000" b="1" dirty="0"/>
              <a:t>reactive farming to predictive and preventive farming</a:t>
            </a:r>
            <a:r>
              <a:rPr lang="en-IN" sz="2000" dirty="0"/>
              <a:t>.</a:t>
            </a:r>
          </a:p>
          <a:p>
            <a:endParaRPr lang="en-IN" sz="2000" dirty="0"/>
          </a:p>
          <a:p>
            <a:r>
              <a:rPr lang="en-IN" sz="2000" b="1" dirty="0"/>
              <a:t>3. Core System Modules</a:t>
            </a:r>
          </a:p>
          <a:p>
            <a:r>
              <a:rPr lang="en-IN" sz="2000" b="1" dirty="0"/>
              <a:t>A. Smart Farm Registration</a:t>
            </a:r>
          </a:p>
          <a:p>
            <a:r>
              <a:rPr lang="en-IN" sz="2000" dirty="0"/>
              <a:t>Farmers can add individual farms with information such as:</a:t>
            </a:r>
          </a:p>
          <a:p>
            <a:pPr lvl="0"/>
            <a:r>
              <a:rPr lang="en-IN" sz="2000" dirty="0"/>
              <a:t>Farm name </a:t>
            </a:r>
          </a:p>
          <a:p>
            <a:pPr lvl="0"/>
            <a:r>
              <a:rPr lang="en-IN" sz="2000" dirty="0"/>
              <a:t>Location </a:t>
            </a:r>
          </a:p>
          <a:p>
            <a:pPr lvl="0"/>
            <a:r>
              <a:rPr lang="en-IN" sz="2000" dirty="0"/>
              <a:t>Area </a:t>
            </a:r>
          </a:p>
          <a:p>
            <a:pPr lvl="0"/>
            <a:r>
              <a:rPr lang="en-IN" sz="2000" dirty="0"/>
              <a:t>Crop </a:t>
            </a:r>
          </a:p>
          <a:p>
            <a:pPr lvl="0"/>
            <a:r>
              <a:rPr lang="en-IN" sz="2000" dirty="0"/>
              <a:t>Soil characteristics </a:t>
            </a:r>
          </a:p>
          <a:p>
            <a:pPr lvl="0"/>
            <a:r>
              <a:rPr lang="en-IN" sz="2000" dirty="0"/>
              <a:t>Irrigation information </a:t>
            </a:r>
          </a:p>
          <a:p>
            <a:pPr lvl="0"/>
            <a:r>
              <a:rPr lang="en-IN" sz="2000" dirty="0"/>
              <a:t>Sensor information </a:t>
            </a:r>
          </a:p>
          <a:p>
            <a:r>
              <a:rPr lang="en-IN" sz="2000" dirty="0"/>
              <a:t>Each farm receives its own </a:t>
            </a:r>
            <a:r>
              <a:rPr lang="en-IN" sz="2000" b="1" dirty="0"/>
              <a:t>digital farm profile</a:t>
            </a:r>
            <a:r>
              <a:rPr lang="en-IN" sz="2000" dirty="0"/>
              <a:t>.</a:t>
            </a:r>
          </a:p>
          <a:p>
            <a:endParaRPr lang="en-IN" sz="2000" dirty="0"/>
          </a:p>
          <a:p>
            <a:endParaRPr lang="en-IN" dirty="0"/>
          </a:p>
        </p:txBody>
      </p:sp>
    </p:spTree>
    <p:extLst>
      <p:ext uri="{BB962C8B-B14F-4D97-AF65-F5344CB8AC3E}">
        <p14:creationId xmlns:p14="http://schemas.microsoft.com/office/powerpoint/2010/main" val="3488895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B956AEA-8F59-BF88-FA86-BC43650F9972}"/>
              </a:ext>
            </a:extLst>
          </p:cNvPr>
          <p:cNvSpPr>
            <a:spLocks noGrp="1"/>
          </p:cNvSpPr>
          <p:nvPr>
            <p:ph type="body" idx="1"/>
          </p:nvPr>
        </p:nvSpPr>
        <p:spPr>
          <a:xfrm>
            <a:off x="228600" y="190500"/>
            <a:ext cx="17754599" cy="9233297"/>
          </a:xfrm>
        </p:spPr>
        <p:txBody>
          <a:bodyPr/>
          <a:lstStyle/>
          <a:p>
            <a:r>
              <a:rPr lang="en-IN" sz="2000" b="1" dirty="0">
                <a:latin typeface="Times New Roman" panose="02020603050405020304" pitchFamily="18" charset="0"/>
                <a:cs typeface="Times New Roman" panose="02020603050405020304" pitchFamily="18" charset="0"/>
              </a:rPr>
              <a:t>B. Real-Time Soil Monitoring</a:t>
            </a:r>
          </a:p>
          <a:p>
            <a:r>
              <a:rPr lang="en-IN" sz="2000" dirty="0">
                <a:latin typeface="Times New Roman" panose="02020603050405020304" pitchFamily="18" charset="0"/>
                <a:cs typeface="Times New Roman" panose="02020603050405020304" pitchFamily="18" charset="0"/>
              </a:rPr>
              <a:t>The platform collects or simulates data from agricultural sensors such as:</a:t>
            </a:r>
          </a:p>
          <a:p>
            <a:pPr lvl="0"/>
            <a:r>
              <a:rPr lang="en-IN" sz="2000" b="1" dirty="0">
                <a:latin typeface="Times New Roman" panose="02020603050405020304" pitchFamily="18" charset="0"/>
                <a:cs typeface="Times New Roman" panose="02020603050405020304" pitchFamily="18" charset="0"/>
              </a:rPr>
              <a:t>Soil EC</a:t>
            </a:r>
            <a:r>
              <a:rPr lang="en-IN" sz="2000" dirty="0">
                <a:latin typeface="Times New Roman" panose="02020603050405020304" pitchFamily="18" charset="0"/>
                <a:cs typeface="Times New Roman" panose="02020603050405020304" pitchFamily="18" charset="0"/>
              </a:rPr>
              <a:t> </a:t>
            </a:r>
          </a:p>
          <a:p>
            <a:pPr lvl="0"/>
            <a:r>
              <a:rPr lang="en-IN" sz="2000" dirty="0">
                <a:latin typeface="Times New Roman" panose="02020603050405020304" pitchFamily="18" charset="0"/>
                <a:cs typeface="Times New Roman" panose="02020603050405020304" pitchFamily="18" charset="0"/>
              </a:rPr>
              <a:t>Soil moisture </a:t>
            </a:r>
          </a:p>
          <a:p>
            <a:pPr lvl="0"/>
            <a:r>
              <a:rPr lang="en-IN" sz="2000" dirty="0">
                <a:latin typeface="Times New Roman" panose="02020603050405020304" pitchFamily="18" charset="0"/>
                <a:cs typeface="Times New Roman" panose="02020603050405020304" pitchFamily="18" charset="0"/>
              </a:rPr>
              <a:t>Soil temperature </a:t>
            </a:r>
          </a:p>
          <a:p>
            <a:pPr lvl="0"/>
            <a:r>
              <a:rPr lang="en-IN" sz="2000" dirty="0">
                <a:latin typeface="Times New Roman" panose="02020603050405020304" pitchFamily="18" charset="0"/>
                <a:cs typeface="Times New Roman" panose="02020603050405020304" pitchFamily="18" charset="0"/>
              </a:rPr>
              <a:t>pH </a:t>
            </a:r>
          </a:p>
          <a:p>
            <a:pPr lvl="0"/>
            <a:r>
              <a:rPr lang="en-IN" sz="2000" dirty="0">
                <a:latin typeface="Times New Roman" panose="02020603050405020304" pitchFamily="18" charset="0"/>
                <a:cs typeface="Times New Roman" panose="02020603050405020304" pitchFamily="18" charset="0"/>
              </a:rPr>
              <a:t>Water quality </a:t>
            </a:r>
          </a:p>
          <a:p>
            <a:pPr lvl="0"/>
            <a:r>
              <a:rPr lang="en-IN" sz="2000" dirty="0">
                <a:latin typeface="Times New Roman" panose="02020603050405020304" pitchFamily="18" charset="0"/>
                <a:cs typeface="Times New Roman" panose="02020603050405020304" pitchFamily="18" charset="0"/>
              </a:rPr>
              <a:t>Irrigation-related parameters </a:t>
            </a:r>
          </a:p>
          <a:p>
            <a:pPr lvl="0"/>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The system converts these readings into an easy-to-understand farm health status.</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4. AI-Powered Salinity Risk Score</a:t>
            </a:r>
          </a:p>
          <a:p>
            <a:r>
              <a:rPr lang="en-IN" sz="2000" dirty="0">
                <a:latin typeface="Times New Roman" panose="02020603050405020304" pitchFamily="18" charset="0"/>
                <a:cs typeface="Times New Roman" panose="02020603050405020304" pitchFamily="18" charset="0"/>
              </a:rPr>
              <a:t>Every farm receives a dynamic </a:t>
            </a:r>
            <a:r>
              <a:rPr lang="en-IN" sz="2000" b="1" dirty="0">
                <a:latin typeface="Times New Roman" panose="02020603050405020304" pitchFamily="18" charset="0"/>
                <a:cs typeface="Times New Roman" panose="02020603050405020304" pitchFamily="18" charset="0"/>
              </a:rPr>
              <a:t>Salinity Risk Score</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The score can combine:</a:t>
            </a:r>
          </a:p>
          <a:p>
            <a:pPr lvl="0"/>
            <a:r>
              <a:rPr lang="en-IN" sz="2000" dirty="0">
                <a:latin typeface="Times New Roman" panose="02020603050405020304" pitchFamily="18" charset="0"/>
                <a:cs typeface="Times New Roman" panose="02020603050405020304" pitchFamily="18" charset="0"/>
              </a:rPr>
              <a:t>Current EC </a:t>
            </a:r>
          </a:p>
          <a:p>
            <a:pPr lvl="0"/>
            <a:r>
              <a:rPr lang="en-IN" sz="2000" dirty="0">
                <a:latin typeface="Times New Roman" panose="02020603050405020304" pitchFamily="18" charset="0"/>
                <a:cs typeface="Times New Roman" panose="02020603050405020304" pitchFamily="18" charset="0"/>
              </a:rPr>
              <a:t>EC rate of change </a:t>
            </a:r>
          </a:p>
          <a:p>
            <a:pPr lvl="0"/>
            <a:r>
              <a:rPr lang="en-IN" sz="2000" dirty="0">
                <a:latin typeface="Times New Roman" panose="02020603050405020304" pitchFamily="18" charset="0"/>
                <a:cs typeface="Times New Roman" panose="02020603050405020304" pitchFamily="18" charset="0"/>
              </a:rPr>
              <a:t>Soil moisture </a:t>
            </a:r>
          </a:p>
          <a:p>
            <a:pPr lvl="0"/>
            <a:r>
              <a:rPr lang="en-IN" sz="2000" dirty="0">
                <a:latin typeface="Times New Roman" panose="02020603050405020304" pitchFamily="18" charset="0"/>
                <a:cs typeface="Times New Roman" panose="02020603050405020304" pitchFamily="18" charset="0"/>
              </a:rPr>
              <a:t>pH </a:t>
            </a:r>
          </a:p>
          <a:p>
            <a:pPr lvl="0"/>
            <a:r>
              <a:rPr lang="en-IN" sz="2000" dirty="0">
                <a:latin typeface="Times New Roman" panose="02020603050405020304" pitchFamily="18" charset="0"/>
                <a:cs typeface="Times New Roman" panose="02020603050405020304" pitchFamily="18" charset="0"/>
              </a:rPr>
              <a:t>Water quality </a:t>
            </a:r>
          </a:p>
          <a:p>
            <a:pPr lvl="0"/>
            <a:r>
              <a:rPr lang="en-IN" sz="2000" dirty="0">
                <a:latin typeface="Times New Roman" panose="02020603050405020304" pitchFamily="18" charset="0"/>
                <a:cs typeface="Times New Roman" panose="02020603050405020304" pitchFamily="18" charset="0"/>
              </a:rPr>
              <a:t>Historical readings </a:t>
            </a:r>
          </a:p>
          <a:p>
            <a:pPr lvl="0"/>
            <a:r>
              <a:rPr lang="en-IN" sz="2000" dirty="0">
                <a:latin typeface="Times New Roman" panose="02020603050405020304" pitchFamily="18" charset="0"/>
                <a:cs typeface="Times New Roman" panose="02020603050405020304" pitchFamily="18" charset="0"/>
              </a:rPr>
              <a:t>Weather conditions </a:t>
            </a:r>
          </a:p>
          <a:p>
            <a:pPr lvl="0"/>
            <a:r>
              <a:rPr lang="en-IN" sz="2000" dirty="0">
                <a:latin typeface="Times New Roman" panose="02020603050405020304" pitchFamily="18" charset="0"/>
                <a:cs typeface="Times New Roman" panose="02020603050405020304" pitchFamily="18" charset="0"/>
              </a:rPr>
              <a:t>Crop sensitivity </a:t>
            </a:r>
          </a:p>
          <a:p>
            <a:pPr lvl="0"/>
            <a:r>
              <a:rPr lang="en-IN" sz="2000" dirty="0">
                <a:latin typeface="Times New Roman" panose="02020603050405020304" pitchFamily="18" charset="0"/>
                <a:cs typeface="Times New Roman" panose="02020603050405020304" pitchFamily="18" charset="0"/>
              </a:rPr>
              <a:t>Location/coastal proximity </a:t>
            </a:r>
          </a:p>
          <a:p>
            <a:pPr lvl="0"/>
            <a:r>
              <a:rPr lang="en-IN" sz="2000" dirty="0">
                <a:latin typeface="Times New Roman" panose="02020603050405020304" pitchFamily="18" charset="0"/>
                <a:cs typeface="Times New Roman" panose="02020603050405020304" pitchFamily="18" charset="0"/>
              </a:rPr>
              <a:t>Previous salinity events </a:t>
            </a:r>
          </a:p>
          <a:p>
            <a:r>
              <a:rPr lang="en-IN" sz="2000" dirty="0">
                <a:latin typeface="Times New Roman" panose="02020603050405020304" pitchFamily="18" charset="0"/>
                <a:cs typeface="Times New Roman" panose="02020603050405020304" pitchFamily="18" charset="0"/>
              </a:rPr>
              <a:t>The result is categorized into:</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Low → Moderate → High → Critical</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This allows farmers and authorities to prioritize farms requiring immediate attention.</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8555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546AB2-52AE-DA34-6687-08B468713037}"/>
              </a:ext>
            </a:extLst>
          </p:cNvPr>
          <p:cNvSpPr>
            <a:spLocks noGrp="1"/>
          </p:cNvSpPr>
          <p:nvPr>
            <p:ph type="body" idx="1"/>
          </p:nvPr>
        </p:nvSpPr>
        <p:spPr>
          <a:xfrm>
            <a:off x="304800" y="266700"/>
            <a:ext cx="17678399" cy="9541073"/>
          </a:xfrm>
        </p:spPr>
        <p:txBody>
          <a:bodyPr/>
          <a:lstStyle/>
          <a:p>
            <a:r>
              <a:rPr lang="en-IN" sz="2000" b="1" dirty="0">
                <a:latin typeface="Times New Roman" panose="02020603050405020304" pitchFamily="18" charset="0"/>
                <a:cs typeface="Times New Roman" panose="02020603050405020304" pitchFamily="18" charset="0"/>
              </a:rPr>
              <a:t>5. AI Early-Warning System</a:t>
            </a:r>
          </a:p>
          <a:p>
            <a:r>
              <a:rPr lang="en-IN" sz="2000" dirty="0">
                <a:latin typeface="Times New Roman" panose="02020603050405020304" pitchFamily="18" charset="0"/>
                <a:cs typeface="Times New Roman" panose="02020603050405020304" pitchFamily="18" charset="0"/>
              </a:rPr>
              <a:t>One of the most important components is </a:t>
            </a:r>
            <a:r>
              <a:rPr lang="en-IN" sz="2000" b="1" dirty="0">
                <a:latin typeface="Times New Roman" panose="02020603050405020304" pitchFamily="18" charset="0"/>
                <a:cs typeface="Times New Roman" panose="02020603050405020304" pitchFamily="18" charset="0"/>
              </a:rPr>
              <a:t>early detection</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Instead of waiting until crops show visible damage, Salinity Shield AI detects abnormal trends such as:</a:t>
            </a:r>
          </a:p>
          <a:p>
            <a:r>
              <a:rPr lang="en-IN" sz="2000" dirty="0">
                <a:latin typeface="Times New Roman" panose="02020603050405020304" pitchFamily="18" charset="0"/>
                <a:cs typeface="Times New Roman" panose="02020603050405020304" pitchFamily="18" charset="0"/>
              </a:rPr>
              <a:t>EC increasing rapidly over several readings.</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The platform can generate:</a:t>
            </a:r>
          </a:p>
          <a:p>
            <a:r>
              <a:rPr lang="en-IN" sz="2000" b="1" dirty="0">
                <a:latin typeface="Times New Roman" panose="02020603050405020304" pitchFamily="18" charset="0"/>
                <a:cs typeface="Times New Roman" panose="02020603050405020304" pitchFamily="18" charset="0"/>
              </a:rPr>
              <a:t>⚠️ Early Warning</a:t>
            </a:r>
          </a:p>
          <a:p>
            <a:r>
              <a:rPr lang="en-IN" sz="2000" b="1" dirty="0">
                <a:latin typeface="Times New Roman" panose="02020603050405020304" pitchFamily="18" charset="0"/>
                <a:cs typeface="Times New Roman" panose="02020603050405020304" pitchFamily="18" charset="0"/>
              </a:rPr>
              <a:t>“Salinity is increasing rapidly. Immediate intervention is recommended.”</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This gives farmers an opportunity to act </a:t>
            </a:r>
            <a:r>
              <a:rPr lang="en-IN" sz="2000" b="1" dirty="0">
                <a:latin typeface="Times New Roman" panose="02020603050405020304" pitchFamily="18" charset="0"/>
                <a:cs typeface="Times New Roman" panose="02020603050405020304" pitchFamily="18" charset="0"/>
              </a:rPr>
              <a:t>before severe crop and soil damage occurs</a:t>
            </a:r>
            <a:r>
              <a:rPr lang="en-IN"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6. Salinity Forecasting</a:t>
            </a:r>
          </a:p>
          <a:p>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Salinity Forecast</a:t>
            </a:r>
            <a:r>
              <a:rPr lang="en-IN" sz="2000" dirty="0">
                <a:latin typeface="Times New Roman" panose="02020603050405020304" pitchFamily="18" charset="0"/>
                <a:cs typeface="Times New Roman" panose="02020603050405020304" pitchFamily="18" charset="0"/>
              </a:rPr>
              <a:t> module predicts how salinity may change in the future.</a:t>
            </a:r>
          </a:p>
          <a:p>
            <a:r>
              <a:rPr lang="en-IN" sz="2000" dirty="0">
                <a:latin typeface="Times New Roman" panose="02020603050405020304" pitchFamily="18" charset="0"/>
                <a:cs typeface="Times New Roman" panose="02020603050405020304" pitchFamily="18" charset="0"/>
              </a:rPr>
              <a:t>It can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historical sensor readings and environmental factors to estimate:</a:t>
            </a:r>
          </a:p>
          <a:p>
            <a:pPr lvl="0"/>
            <a:r>
              <a:rPr lang="en-IN" sz="2000" dirty="0">
                <a:latin typeface="Times New Roman" panose="02020603050405020304" pitchFamily="18" charset="0"/>
                <a:cs typeface="Times New Roman" panose="02020603050405020304" pitchFamily="18" charset="0"/>
              </a:rPr>
              <a:t>Future EC </a:t>
            </a:r>
          </a:p>
          <a:p>
            <a:pPr lvl="0"/>
            <a:r>
              <a:rPr lang="en-IN" sz="2000" dirty="0">
                <a:latin typeface="Times New Roman" panose="02020603050405020304" pitchFamily="18" charset="0"/>
                <a:cs typeface="Times New Roman" panose="02020603050405020304" pitchFamily="18" charset="0"/>
              </a:rPr>
              <a:t>Future risk level </a:t>
            </a:r>
          </a:p>
          <a:p>
            <a:pPr lvl="0"/>
            <a:r>
              <a:rPr lang="en-IN" sz="2000" dirty="0">
                <a:latin typeface="Times New Roman" panose="02020603050405020304" pitchFamily="18" charset="0"/>
                <a:cs typeface="Times New Roman" panose="02020603050405020304" pitchFamily="18" charset="0"/>
              </a:rPr>
              <a:t>Expected trend </a:t>
            </a:r>
          </a:p>
          <a:p>
            <a:pPr lvl="0"/>
            <a:r>
              <a:rPr lang="en-IN" sz="2000" dirty="0">
                <a:latin typeface="Times New Roman" panose="02020603050405020304" pitchFamily="18" charset="0"/>
                <a:cs typeface="Times New Roman" panose="02020603050405020304" pitchFamily="18" charset="0"/>
              </a:rPr>
              <a:t>Potential critical period </a:t>
            </a:r>
          </a:p>
          <a:p>
            <a:pPr lvl="0"/>
            <a:r>
              <a:rPr lang="en-IN" sz="2000" dirty="0">
                <a:latin typeface="Times New Roman" panose="02020603050405020304" pitchFamily="18" charset="0"/>
                <a:cs typeface="Times New Roman" panose="02020603050405020304" pitchFamily="18" charset="0"/>
              </a:rPr>
              <a:t>Whether intervention is reducing the risk</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7. AI Farm Advisor</a:t>
            </a:r>
          </a:p>
          <a:p>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AI Farm Advisor</a:t>
            </a:r>
            <a:r>
              <a:rPr lang="en-IN" sz="2000" dirty="0">
                <a:latin typeface="Times New Roman" panose="02020603050405020304" pitchFamily="18" charset="0"/>
                <a:cs typeface="Times New Roman" panose="02020603050405020304" pitchFamily="18" charset="0"/>
              </a:rPr>
              <a:t> acts as an intelligent agricultural assistant.</a:t>
            </a:r>
          </a:p>
          <a:p>
            <a:r>
              <a:rPr lang="en-IN" sz="2000" dirty="0">
                <a:latin typeface="Times New Roman" panose="02020603050405020304" pitchFamily="18" charset="0"/>
                <a:cs typeface="Times New Roman" panose="02020603050405020304" pitchFamily="18" charset="0"/>
              </a:rPr>
              <a:t>Farmers can ask questions such as:</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“Why is my soil salinity increasing?”</a:t>
            </a:r>
          </a:p>
          <a:p>
            <a:r>
              <a:rPr lang="en-IN" sz="2000" dirty="0">
                <a:latin typeface="Times New Roman" panose="02020603050405020304" pitchFamily="18" charset="0"/>
                <a:cs typeface="Times New Roman" panose="02020603050405020304" pitchFamily="18" charset="0"/>
              </a:rPr>
              <a:t>“What should I do if EC is very high?”</a:t>
            </a:r>
          </a:p>
          <a:p>
            <a:r>
              <a:rPr lang="en-IN" sz="2000" dirty="0">
                <a:latin typeface="Times New Roman" panose="02020603050405020304" pitchFamily="18" charset="0"/>
                <a:cs typeface="Times New Roman" panose="02020603050405020304" pitchFamily="18" charset="0"/>
              </a:rPr>
              <a:t>“Which intervention should I take first?”</a:t>
            </a:r>
          </a:p>
          <a:p>
            <a:r>
              <a:rPr lang="en-IN" sz="2000" dirty="0">
                <a:latin typeface="Times New Roman" panose="02020603050405020304" pitchFamily="18" charset="0"/>
                <a:cs typeface="Times New Roman" panose="02020603050405020304" pitchFamily="18" charset="0"/>
              </a:rPr>
              <a:t>“Is my current crop suitable for this soil condition?”</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The AI generates recommendations based on the farm's available data instead of providing only generic agricultural information.</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6180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28C2903-C8E5-CE6A-1633-F0FE991F1D78}"/>
              </a:ext>
            </a:extLst>
          </p:cNvPr>
          <p:cNvSpPr>
            <a:spLocks noGrp="1"/>
          </p:cNvSpPr>
          <p:nvPr>
            <p:ph type="body" idx="1"/>
          </p:nvPr>
        </p:nvSpPr>
        <p:spPr>
          <a:xfrm>
            <a:off x="228600" y="190500"/>
            <a:ext cx="17754599" cy="9848850"/>
          </a:xfrm>
        </p:spPr>
        <p:txBody>
          <a:bodyPr/>
          <a:lstStyle/>
          <a:p>
            <a:r>
              <a:rPr lang="en-IN" sz="2000" b="1" dirty="0">
                <a:latin typeface="Times New Roman" panose="02020603050405020304" pitchFamily="18" charset="0"/>
                <a:cs typeface="Times New Roman" panose="02020603050405020304" pitchFamily="18" charset="0"/>
              </a:rPr>
              <a:t>8. AI Decision Trace</a:t>
            </a:r>
          </a:p>
          <a:p>
            <a:r>
              <a:rPr lang="en-IN" sz="2000" dirty="0">
                <a:latin typeface="Times New Roman" panose="02020603050405020304" pitchFamily="18" charset="0"/>
                <a:cs typeface="Times New Roman" panose="02020603050405020304" pitchFamily="18" charset="0"/>
              </a:rPr>
              <a:t>A major transparency feature is the </a:t>
            </a:r>
            <a:r>
              <a:rPr lang="en-IN" sz="2000" b="1" dirty="0">
                <a:latin typeface="Times New Roman" panose="02020603050405020304" pitchFamily="18" charset="0"/>
                <a:cs typeface="Times New Roman" panose="02020603050405020304" pitchFamily="18" charset="0"/>
              </a:rPr>
              <a:t>AI Decision Trace</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Instead of giving farmers a recommendation without explanation, the platform shows:</a:t>
            </a:r>
          </a:p>
          <a:p>
            <a:r>
              <a:rPr lang="en-IN" sz="2000" b="1" dirty="0">
                <a:latin typeface="Times New Roman" panose="02020603050405020304" pitchFamily="18" charset="0"/>
                <a:cs typeface="Times New Roman" panose="02020603050405020304" pitchFamily="18" charset="0"/>
              </a:rPr>
              <a:t>Observation</a:t>
            </a:r>
          </a:p>
          <a:p>
            <a:r>
              <a:rPr lang="en-IN" sz="2000" dirty="0">
                <a:latin typeface="Times New Roman" panose="02020603050405020304" pitchFamily="18" charset="0"/>
                <a:cs typeface="Times New Roman" panose="02020603050405020304" pitchFamily="18" charset="0"/>
              </a:rPr>
              <a:t>EC has increased significantly.</a:t>
            </a:r>
          </a:p>
          <a:p>
            <a:r>
              <a:rPr lang="en-IN" sz="2000" b="1" dirty="0">
                <a:latin typeface="Times New Roman" panose="02020603050405020304" pitchFamily="18" charset="0"/>
                <a:cs typeface="Times New Roman" panose="02020603050405020304" pitchFamily="18" charset="0"/>
              </a:rPr>
              <a:t>Analysis</a:t>
            </a:r>
          </a:p>
          <a:p>
            <a:r>
              <a:rPr lang="en-IN" sz="2000" dirty="0">
                <a:latin typeface="Times New Roman" panose="02020603050405020304" pitchFamily="18" charset="0"/>
                <a:cs typeface="Times New Roman" panose="02020603050405020304" pitchFamily="18" charset="0"/>
              </a:rPr>
              <a:t>The current EC exceeds the selected crop/soil threshold.</a:t>
            </a:r>
          </a:p>
          <a:p>
            <a:r>
              <a:rPr lang="en-IN" sz="2000" b="1" dirty="0">
                <a:latin typeface="Times New Roman" panose="02020603050405020304" pitchFamily="18" charset="0"/>
                <a:cs typeface="Times New Roman" panose="02020603050405020304" pitchFamily="18" charset="0"/>
              </a:rPr>
              <a:t>Risk</a:t>
            </a:r>
          </a:p>
          <a:p>
            <a:r>
              <a:rPr lang="en-IN" sz="2000" dirty="0">
                <a:latin typeface="Times New Roman" panose="02020603050405020304" pitchFamily="18" charset="0"/>
                <a:cs typeface="Times New Roman" panose="02020603050405020304" pitchFamily="18" charset="0"/>
              </a:rPr>
              <a:t>Continued increase may negatively affect crop growth.</a:t>
            </a:r>
          </a:p>
          <a:p>
            <a:r>
              <a:rPr lang="en-IN" sz="2000" b="1" dirty="0">
                <a:latin typeface="Times New Roman" panose="02020603050405020304" pitchFamily="18" charset="0"/>
                <a:cs typeface="Times New Roman" panose="02020603050405020304" pitchFamily="18" charset="0"/>
              </a:rPr>
              <a:t>Recommendation</a:t>
            </a:r>
          </a:p>
          <a:p>
            <a:r>
              <a:rPr lang="en-IN" sz="2000" dirty="0">
                <a:latin typeface="Times New Roman" panose="02020603050405020304" pitchFamily="18" charset="0"/>
                <a:cs typeface="Times New Roman" panose="02020603050405020304" pitchFamily="18" charset="0"/>
              </a:rPr>
              <a:t>Take appropriate salinity-management measures.</a:t>
            </a:r>
          </a:p>
          <a:p>
            <a:r>
              <a:rPr lang="en-IN" sz="2000" b="1" dirty="0">
                <a:latin typeface="Times New Roman" panose="02020603050405020304" pitchFamily="18" charset="0"/>
                <a:cs typeface="Times New Roman" panose="02020603050405020304" pitchFamily="18" charset="0"/>
              </a:rPr>
              <a:t>Expected Result</a:t>
            </a:r>
          </a:p>
          <a:p>
            <a:r>
              <a:rPr lang="en-IN" sz="2000" dirty="0">
                <a:latin typeface="Times New Roman" panose="02020603050405020304" pitchFamily="18" charset="0"/>
                <a:cs typeface="Times New Roman" panose="02020603050405020304" pitchFamily="18" charset="0"/>
              </a:rPr>
              <a:t>Reduce salt accumulation and prevent further deterioration.</a:t>
            </a:r>
          </a:p>
          <a:p>
            <a:r>
              <a:rPr lang="en-IN" sz="2000" dirty="0">
                <a:latin typeface="Times New Roman" panose="02020603050405020304" pitchFamily="18" charset="0"/>
                <a:cs typeface="Times New Roman" panose="02020603050405020304" pitchFamily="18" charset="0"/>
              </a:rPr>
              <a:t>This makes the AI </a:t>
            </a:r>
            <a:r>
              <a:rPr lang="en-IN" sz="2000" b="1" dirty="0">
                <a:latin typeface="Times New Roman" panose="02020603050405020304" pitchFamily="18" charset="0"/>
                <a:cs typeface="Times New Roman" panose="02020603050405020304" pitchFamily="18" charset="0"/>
              </a:rPr>
              <a:t>explainable and trustworthy</a:t>
            </a:r>
            <a:r>
              <a:rPr lang="en-IN"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9. What-If Simulator</a:t>
            </a:r>
          </a:p>
          <a:p>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What-If Simulator</a:t>
            </a:r>
            <a:r>
              <a:rPr lang="en-IN" sz="2000" dirty="0">
                <a:latin typeface="Times New Roman" panose="02020603050405020304" pitchFamily="18" charset="0"/>
                <a:cs typeface="Times New Roman" panose="02020603050405020304" pitchFamily="18" charset="0"/>
              </a:rPr>
              <a:t> allows users to test possible interventions before taking action.</a:t>
            </a:r>
          </a:p>
          <a:p>
            <a:r>
              <a:rPr lang="en-IN" sz="2000" dirty="0">
                <a:latin typeface="Times New Roman" panose="02020603050405020304" pitchFamily="18" charset="0"/>
                <a:cs typeface="Times New Roman" panose="02020603050405020304" pitchFamily="18" charset="0"/>
              </a:rPr>
              <a:t>For example:</a:t>
            </a:r>
          </a:p>
          <a:p>
            <a:r>
              <a:rPr lang="en-IN" sz="2000" b="1" dirty="0">
                <a:latin typeface="Times New Roman" panose="02020603050405020304" pitchFamily="18" charset="0"/>
                <a:cs typeface="Times New Roman" panose="02020603050405020304" pitchFamily="18" charset="0"/>
              </a:rPr>
              <a:t>What happens if irrigation is reduced?</a:t>
            </a: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What happens if freshwater irrigation is increased?</a:t>
            </a: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What happens if drainage is improved?</a:t>
            </a: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What happens if a salt-tolerant crop is selected?</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The system compares:</a:t>
            </a:r>
          </a:p>
          <a:p>
            <a:r>
              <a:rPr lang="en-IN" sz="2000" b="1" dirty="0">
                <a:latin typeface="Times New Roman" panose="02020603050405020304" pitchFamily="18" charset="0"/>
                <a:cs typeface="Times New Roman" panose="02020603050405020304" pitchFamily="18" charset="0"/>
              </a:rPr>
              <a:t>Current Scenario vs. Proposed Scenario</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and provides an estimated change in:</a:t>
            </a:r>
          </a:p>
          <a:p>
            <a:pPr lvl="0"/>
            <a:r>
              <a:rPr lang="en-IN" sz="2000" dirty="0">
                <a:latin typeface="Times New Roman" panose="02020603050405020304" pitchFamily="18" charset="0"/>
                <a:cs typeface="Times New Roman" panose="02020603050405020304" pitchFamily="18" charset="0"/>
              </a:rPr>
              <a:t>Salinity </a:t>
            </a:r>
          </a:p>
          <a:p>
            <a:pPr lvl="0"/>
            <a:r>
              <a:rPr lang="en-IN" sz="2000" dirty="0">
                <a:latin typeface="Times New Roman" panose="02020603050405020304" pitchFamily="18" charset="0"/>
                <a:cs typeface="Times New Roman" panose="02020603050405020304" pitchFamily="18" charset="0"/>
              </a:rPr>
              <a:t>Risk score </a:t>
            </a:r>
          </a:p>
          <a:p>
            <a:pPr lvl="0"/>
            <a:r>
              <a:rPr lang="en-IN" sz="2000" dirty="0">
                <a:latin typeface="Times New Roman" panose="02020603050405020304" pitchFamily="18" charset="0"/>
                <a:cs typeface="Times New Roman" panose="02020603050405020304" pitchFamily="18" charset="0"/>
              </a:rPr>
              <a:t>Farm health </a:t>
            </a:r>
          </a:p>
          <a:p>
            <a:pPr lvl="0"/>
            <a:r>
              <a:rPr lang="en-IN" sz="2000" dirty="0">
                <a:latin typeface="Times New Roman" panose="02020603050405020304" pitchFamily="18" charset="0"/>
                <a:cs typeface="Times New Roman" panose="02020603050405020304" pitchFamily="18" charset="0"/>
              </a:rPr>
              <a:t>Crop suitability </a:t>
            </a:r>
          </a:p>
          <a:p>
            <a:pPr lvl="0"/>
            <a:r>
              <a:rPr lang="en-IN" sz="2000" dirty="0">
                <a:latin typeface="Times New Roman" panose="02020603050405020304" pitchFamily="18" charset="0"/>
                <a:cs typeface="Times New Roman" panose="02020603050405020304" pitchFamily="18" charset="0"/>
              </a:rPr>
              <a:t>Long-term condition </a:t>
            </a:r>
          </a:p>
          <a:p>
            <a:r>
              <a:rPr lang="en-IN" sz="2000" dirty="0">
                <a:latin typeface="Times New Roman" panose="02020603050405020304" pitchFamily="18" charset="0"/>
                <a:cs typeface="Times New Roman" panose="02020603050405020304" pitchFamily="18" charset="0"/>
              </a:rPr>
              <a:t>This enables </a:t>
            </a:r>
            <a:r>
              <a:rPr lang="en-IN" sz="2000" b="1" dirty="0">
                <a:latin typeface="Times New Roman" panose="02020603050405020304" pitchFamily="18" charset="0"/>
                <a:cs typeface="Times New Roman" panose="02020603050405020304" pitchFamily="18" charset="0"/>
              </a:rPr>
              <a:t>data-driven decision making rather than trial and error</a:t>
            </a:r>
            <a:r>
              <a:rPr lang="en-IN"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3095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C78AB2A-4C51-D708-8840-F28A6123ED78}"/>
              </a:ext>
            </a:extLst>
          </p:cNvPr>
          <p:cNvSpPr>
            <a:spLocks noGrp="1"/>
          </p:cNvSpPr>
          <p:nvPr>
            <p:ph type="body" idx="1"/>
          </p:nvPr>
        </p:nvSpPr>
        <p:spPr>
          <a:xfrm>
            <a:off x="228600" y="190500"/>
            <a:ext cx="17830799" cy="9848850"/>
          </a:xfrm>
        </p:spPr>
        <p:txBody>
          <a:bodyPr/>
          <a:lstStyle/>
          <a:p>
            <a:r>
              <a:rPr lang="en-IN" sz="2000" b="1" dirty="0">
                <a:latin typeface="Times New Roman" panose="02020603050405020304" pitchFamily="18" charset="0"/>
                <a:cs typeface="Times New Roman" panose="02020603050405020304" pitchFamily="18" charset="0"/>
              </a:rPr>
              <a:t>10. Live Risk Map</a:t>
            </a:r>
          </a:p>
          <a:p>
            <a:r>
              <a:rPr lang="en-IN" sz="2000" dirty="0">
                <a:latin typeface="Times New Roman" panose="02020603050405020304" pitchFamily="18" charset="0"/>
                <a:cs typeface="Times New Roman" panose="02020603050405020304" pitchFamily="18" charset="0"/>
              </a:rPr>
              <a:t>The platform provides a </a:t>
            </a:r>
            <a:r>
              <a:rPr lang="en-IN" sz="2000" b="1" dirty="0">
                <a:latin typeface="Times New Roman" panose="02020603050405020304" pitchFamily="18" charset="0"/>
                <a:cs typeface="Times New Roman" panose="02020603050405020304" pitchFamily="18" charset="0"/>
              </a:rPr>
              <a:t>geospatial Live Risk Map</a:t>
            </a:r>
            <a:r>
              <a:rPr lang="en-IN" sz="2000" dirty="0">
                <a:latin typeface="Times New Roman" panose="02020603050405020304" pitchFamily="18" charset="0"/>
                <a:cs typeface="Times New Roman" panose="02020603050405020304" pitchFamily="18" charset="0"/>
              </a:rPr>
              <a:t> showing farms and their current risk levels.</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Authorities can quickly identify:</a:t>
            </a:r>
          </a:p>
          <a:p>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High-risk farms </a:t>
            </a:r>
          </a:p>
          <a:p>
            <a:pPr lvl="0"/>
            <a:r>
              <a:rPr lang="en-IN" sz="2000" dirty="0">
                <a:latin typeface="Times New Roman" panose="02020603050405020304" pitchFamily="18" charset="0"/>
                <a:cs typeface="Times New Roman" panose="02020603050405020304" pitchFamily="18" charset="0"/>
              </a:rPr>
              <a:t>Critical farms </a:t>
            </a:r>
          </a:p>
          <a:p>
            <a:pPr lvl="0"/>
            <a:r>
              <a:rPr lang="en-IN" sz="2000" dirty="0">
                <a:latin typeface="Times New Roman" panose="02020603050405020304" pitchFamily="18" charset="0"/>
                <a:cs typeface="Times New Roman" panose="02020603050405020304" pitchFamily="18" charset="0"/>
              </a:rPr>
              <a:t>Salinity hotspots </a:t>
            </a:r>
          </a:p>
          <a:p>
            <a:pPr lvl="0"/>
            <a:r>
              <a:rPr lang="en-IN" sz="2000" dirty="0">
                <a:latin typeface="Times New Roman" panose="02020603050405020304" pitchFamily="18" charset="0"/>
                <a:cs typeface="Times New Roman" panose="02020603050405020304" pitchFamily="18" charset="0"/>
              </a:rPr>
              <a:t>Geographical patterns </a:t>
            </a:r>
          </a:p>
          <a:p>
            <a:pPr lvl="0"/>
            <a:r>
              <a:rPr lang="en-IN" sz="2000" dirty="0">
                <a:latin typeface="Times New Roman" panose="02020603050405020304" pitchFamily="18" charset="0"/>
                <a:cs typeface="Times New Roman" panose="02020603050405020304" pitchFamily="18" charset="0"/>
              </a:rPr>
              <a:t>Farms requiring intervention </a:t>
            </a:r>
          </a:p>
          <a:p>
            <a:pPr lvl="0"/>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This transforms individual farm monitoring into a </a:t>
            </a:r>
            <a:r>
              <a:rPr lang="en-IN" sz="2000" b="1" dirty="0">
                <a:latin typeface="Times New Roman" panose="02020603050405020304" pitchFamily="18" charset="0"/>
                <a:cs typeface="Times New Roman" panose="02020603050405020304" pitchFamily="18" charset="0"/>
              </a:rPr>
              <a:t>regional coastal-salinity intelligence system</a:t>
            </a:r>
            <a:r>
              <a:rPr lang="en-IN"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11. Alert Centre</a:t>
            </a:r>
          </a:p>
          <a:p>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Alert Centre</a:t>
            </a:r>
            <a:r>
              <a:rPr lang="en-IN" sz="2000" dirty="0">
                <a:latin typeface="Times New Roman" panose="02020603050405020304" pitchFamily="18" charset="0"/>
                <a:cs typeface="Times New Roman" panose="02020603050405020304" pitchFamily="18" charset="0"/>
              </a:rPr>
              <a:t> provides prioritized notifications when:</a:t>
            </a:r>
          </a:p>
          <a:p>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EC crosses a critical threshold </a:t>
            </a:r>
          </a:p>
          <a:p>
            <a:pPr lvl="0"/>
            <a:r>
              <a:rPr lang="en-IN" sz="2000" dirty="0">
                <a:latin typeface="Times New Roman" panose="02020603050405020304" pitchFamily="18" charset="0"/>
                <a:cs typeface="Times New Roman" panose="02020603050405020304" pitchFamily="18" charset="0"/>
              </a:rPr>
              <a:t>EC rises unusually quickly </a:t>
            </a:r>
          </a:p>
          <a:p>
            <a:pPr lvl="0"/>
            <a:r>
              <a:rPr lang="en-IN" sz="2000" dirty="0">
                <a:latin typeface="Times New Roman" panose="02020603050405020304" pitchFamily="18" charset="0"/>
                <a:cs typeface="Times New Roman" panose="02020603050405020304" pitchFamily="18" charset="0"/>
              </a:rPr>
              <a:t>Soil conditions deteriorate </a:t>
            </a:r>
          </a:p>
          <a:p>
            <a:pPr lvl="0"/>
            <a:r>
              <a:rPr lang="en-IN" sz="2000" dirty="0">
                <a:latin typeface="Times New Roman" panose="02020603050405020304" pitchFamily="18" charset="0"/>
                <a:cs typeface="Times New Roman" panose="02020603050405020304" pitchFamily="18" charset="0"/>
              </a:rPr>
              <a:t>Forecast predicts increasing salinity </a:t>
            </a:r>
          </a:p>
          <a:p>
            <a:pPr lvl="0"/>
            <a:r>
              <a:rPr lang="en-IN" sz="2000" dirty="0">
                <a:latin typeface="Times New Roman" panose="02020603050405020304" pitchFamily="18" charset="0"/>
                <a:cs typeface="Times New Roman" panose="02020603050405020304" pitchFamily="18" charset="0"/>
              </a:rPr>
              <a:t>Farm health drops </a:t>
            </a:r>
          </a:p>
          <a:p>
            <a:pPr lvl="0"/>
            <a:r>
              <a:rPr lang="en-IN" sz="2000" dirty="0">
                <a:latin typeface="Times New Roman" panose="02020603050405020304" pitchFamily="18" charset="0"/>
                <a:cs typeface="Times New Roman" panose="02020603050405020304" pitchFamily="18" charset="0"/>
              </a:rPr>
              <a:t>Immediate intervention is required </a:t>
            </a:r>
          </a:p>
          <a:p>
            <a:pPr lvl="0"/>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Alerts can be classified according to severity:</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Informational</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Warning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High Risk</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Critical</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This ensures that important problems are not buried inside large amounts of sensor data.</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4251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6FAF879-CE58-FAB3-DCDD-88DD7A0082D2}"/>
              </a:ext>
            </a:extLst>
          </p:cNvPr>
          <p:cNvSpPr>
            <a:spLocks noGrp="1"/>
          </p:cNvSpPr>
          <p:nvPr>
            <p:ph type="body" idx="1"/>
          </p:nvPr>
        </p:nvSpPr>
        <p:spPr>
          <a:xfrm>
            <a:off x="304800" y="266700"/>
            <a:ext cx="17754600" cy="9233297"/>
          </a:xfrm>
        </p:spPr>
        <p:txBody>
          <a:bodyPr/>
          <a:lstStyle/>
          <a:p>
            <a:r>
              <a:rPr lang="en-IN" sz="2000" b="1" dirty="0">
                <a:latin typeface="Times New Roman" panose="02020603050405020304" pitchFamily="18" charset="0"/>
                <a:cs typeface="Times New Roman" panose="02020603050405020304" pitchFamily="18" charset="0"/>
              </a:rPr>
              <a:t>12. Farm Health Score</a:t>
            </a:r>
          </a:p>
          <a:p>
            <a:r>
              <a:rPr lang="en-IN" sz="2000" dirty="0">
                <a:latin typeface="Times New Roman" panose="02020603050405020304" pitchFamily="18" charset="0"/>
                <a:cs typeface="Times New Roman" panose="02020603050405020304" pitchFamily="18" charset="0"/>
              </a:rPr>
              <a:t>Each farm receives a simplified </a:t>
            </a:r>
            <a:r>
              <a:rPr lang="en-IN" sz="2000" b="1" dirty="0">
                <a:latin typeface="Times New Roman" panose="02020603050405020304" pitchFamily="18" charset="0"/>
                <a:cs typeface="Times New Roman" panose="02020603050405020304" pitchFamily="18" charset="0"/>
              </a:rPr>
              <a:t>Farm Health Score /100</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The score can consider:</a:t>
            </a:r>
          </a:p>
          <a:p>
            <a:pPr lvl="0"/>
            <a:r>
              <a:rPr lang="en-IN" sz="2000" dirty="0">
                <a:latin typeface="Times New Roman" panose="02020603050405020304" pitchFamily="18" charset="0"/>
                <a:cs typeface="Times New Roman" panose="02020603050405020304" pitchFamily="18" charset="0"/>
              </a:rPr>
              <a:t>Soil salinity </a:t>
            </a:r>
          </a:p>
          <a:p>
            <a:pPr lvl="0"/>
            <a:r>
              <a:rPr lang="en-IN" sz="2000" dirty="0">
                <a:latin typeface="Times New Roman" panose="02020603050405020304" pitchFamily="18" charset="0"/>
                <a:cs typeface="Times New Roman" panose="02020603050405020304" pitchFamily="18" charset="0"/>
              </a:rPr>
              <a:t>Salinity trend </a:t>
            </a:r>
          </a:p>
          <a:p>
            <a:pPr lvl="0"/>
            <a:r>
              <a:rPr lang="en-IN" sz="2000" dirty="0">
                <a:latin typeface="Times New Roman" panose="02020603050405020304" pitchFamily="18" charset="0"/>
                <a:cs typeface="Times New Roman" panose="02020603050405020304" pitchFamily="18" charset="0"/>
              </a:rPr>
              <a:t>Soil moisture </a:t>
            </a:r>
          </a:p>
          <a:p>
            <a:pPr lvl="0"/>
            <a:r>
              <a:rPr lang="en-IN" sz="2000" dirty="0">
                <a:latin typeface="Times New Roman" panose="02020603050405020304" pitchFamily="18" charset="0"/>
                <a:cs typeface="Times New Roman" panose="02020603050405020304" pitchFamily="18" charset="0"/>
              </a:rPr>
              <a:t>pH </a:t>
            </a:r>
          </a:p>
          <a:p>
            <a:pPr lvl="0"/>
            <a:r>
              <a:rPr lang="en-IN" sz="2000" dirty="0">
                <a:latin typeface="Times New Roman" panose="02020603050405020304" pitchFamily="18" charset="0"/>
                <a:cs typeface="Times New Roman" panose="02020603050405020304" pitchFamily="18" charset="0"/>
              </a:rPr>
              <a:t>Crop condition </a:t>
            </a:r>
          </a:p>
          <a:p>
            <a:pPr lvl="0"/>
            <a:r>
              <a:rPr lang="en-IN" sz="2000" dirty="0">
                <a:latin typeface="Times New Roman" panose="02020603050405020304" pitchFamily="18" charset="0"/>
                <a:cs typeface="Times New Roman" panose="02020603050405020304" pitchFamily="18" charset="0"/>
              </a:rPr>
              <a:t>Historical health </a:t>
            </a:r>
          </a:p>
          <a:p>
            <a:pPr lvl="0"/>
            <a:r>
              <a:rPr lang="en-IN" sz="2000" dirty="0">
                <a:latin typeface="Times New Roman" panose="02020603050405020304" pitchFamily="18" charset="0"/>
                <a:cs typeface="Times New Roman" panose="02020603050405020304" pitchFamily="18" charset="0"/>
              </a:rPr>
              <a:t>Environmental conditions </a:t>
            </a:r>
          </a:p>
          <a:p>
            <a:r>
              <a:rPr lang="en-IN" sz="2000" dirty="0">
                <a:latin typeface="Times New Roman" panose="02020603050405020304" pitchFamily="18" charset="0"/>
                <a:cs typeface="Times New Roman" panose="02020603050405020304" pitchFamily="18" charset="0"/>
              </a:rPr>
              <a:t>Instead of requiring farmers to interpret multiple technical parameters, they receive a simple overall indicator.</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13. Farm Intelligence Page</a:t>
            </a:r>
          </a:p>
          <a:p>
            <a:r>
              <a:rPr lang="en-IN" sz="2000" dirty="0">
                <a:latin typeface="Times New Roman" panose="02020603050405020304" pitchFamily="18" charset="0"/>
                <a:cs typeface="Times New Roman" panose="02020603050405020304" pitchFamily="18" charset="0"/>
              </a:rPr>
              <a:t>Selecting </a:t>
            </a:r>
            <a:r>
              <a:rPr lang="en-IN" sz="2000" b="1" dirty="0">
                <a:latin typeface="Times New Roman" panose="02020603050405020304" pitchFamily="18" charset="0"/>
                <a:cs typeface="Times New Roman" panose="02020603050405020304" pitchFamily="18" charset="0"/>
              </a:rPr>
              <a:t>“View Farm Intelligence”</a:t>
            </a:r>
            <a:r>
              <a:rPr lang="en-IN" sz="2000" dirty="0">
                <a:latin typeface="Times New Roman" panose="02020603050405020304" pitchFamily="18" charset="0"/>
                <a:cs typeface="Times New Roman" panose="02020603050405020304" pitchFamily="18" charset="0"/>
              </a:rPr>
              <a:t> opens detailed information for that specific farm.</a:t>
            </a:r>
          </a:p>
          <a:p>
            <a:r>
              <a:rPr lang="en-IN" sz="2000" dirty="0">
                <a:latin typeface="Times New Roman" panose="02020603050405020304" pitchFamily="18" charset="0"/>
                <a:cs typeface="Times New Roman" panose="02020603050405020304" pitchFamily="18" charset="0"/>
              </a:rPr>
              <a:t>It can contain:</a:t>
            </a:r>
          </a:p>
          <a:p>
            <a:pPr lvl="0"/>
            <a:r>
              <a:rPr lang="en-IN" sz="2000" dirty="0">
                <a:latin typeface="Times New Roman" panose="02020603050405020304" pitchFamily="18" charset="0"/>
                <a:cs typeface="Times New Roman" panose="02020603050405020304" pitchFamily="18" charset="0"/>
              </a:rPr>
              <a:t>Farm overview </a:t>
            </a:r>
          </a:p>
          <a:p>
            <a:pPr lvl="0"/>
            <a:r>
              <a:rPr lang="en-IN" sz="2000" dirty="0">
                <a:latin typeface="Times New Roman" panose="02020603050405020304" pitchFamily="18" charset="0"/>
                <a:cs typeface="Times New Roman" panose="02020603050405020304" pitchFamily="18" charset="0"/>
              </a:rPr>
              <a:t>Current EC </a:t>
            </a:r>
          </a:p>
          <a:p>
            <a:pPr lvl="0"/>
            <a:r>
              <a:rPr lang="en-IN" sz="2000" dirty="0">
                <a:latin typeface="Times New Roman" panose="02020603050405020304" pitchFamily="18" charset="0"/>
                <a:cs typeface="Times New Roman" panose="02020603050405020304" pitchFamily="18" charset="0"/>
              </a:rPr>
              <a:t>Historical EC graph </a:t>
            </a:r>
          </a:p>
          <a:p>
            <a:pPr lvl="0"/>
            <a:r>
              <a:rPr lang="en-IN" sz="2000" dirty="0">
                <a:latin typeface="Times New Roman" panose="02020603050405020304" pitchFamily="18" charset="0"/>
                <a:cs typeface="Times New Roman" panose="02020603050405020304" pitchFamily="18" charset="0"/>
              </a:rPr>
              <a:t>Soil parameters </a:t>
            </a:r>
          </a:p>
          <a:p>
            <a:pPr lvl="0"/>
            <a:r>
              <a:rPr lang="en-IN" sz="2000" dirty="0">
                <a:latin typeface="Times New Roman" panose="02020603050405020304" pitchFamily="18" charset="0"/>
                <a:cs typeface="Times New Roman" panose="02020603050405020304" pitchFamily="18" charset="0"/>
              </a:rPr>
              <a:t>Risk score </a:t>
            </a:r>
          </a:p>
          <a:p>
            <a:pPr lvl="0"/>
            <a:r>
              <a:rPr lang="en-IN" sz="2000" dirty="0">
                <a:latin typeface="Times New Roman" panose="02020603050405020304" pitchFamily="18" charset="0"/>
                <a:cs typeface="Times New Roman" panose="02020603050405020304" pitchFamily="18" charset="0"/>
              </a:rPr>
              <a:t>Farm health </a:t>
            </a:r>
          </a:p>
          <a:p>
            <a:pPr lvl="0"/>
            <a:r>
              <a:rPr lang="en-IN" sz="2000" dirty="0">
                <a:latin typeface="Times New Roman" panose="02020603050405020304" pitchFamily="18" charset="0"/>
                <a:cs typeface="Times New Roman" panose="02020603050405020304" pitchFamily="18" charset="0"/>
              </a:rPr>
              <a:t>Salinity trend </a:t>
            </a:r>
          </a:p>
          <a:p>
            <a:pPr lvl="0"/>
            <a:r>
              <a:rPr lang="en-IN" sz="2000" dirty="0">
                <a:latin typeface="Times New Roman" panose="02020603050405020304" pitchFamily="18" charset="0"/>
                <a:cs typeface="Times New Roman" panose="02020603050405020304" pitchFamily="18" charset="0"/>
              </a:rPr>
              <a:t>Forecast </a:t>
            </a:r>
          </a:p>
          <a:p>
            <a:pPr lvl="0"/>
            <a:r>
              <a:rPr lang="en-IN" sz="2000" dirty="0">
                <a:latin typeface="Times New Roman" panose="02020603050405020304" pitchFamily="18" charset="0"/>
                <a:cs typeface="Times New Roman" panose="02020603050405020304" pitchFamily="18" charset="0"/>
              </a:rPr>
              <a:t>Alerts </a:t>
            </a:r>
          </a:p>
          <a:p>
            <a:pPr lvl="0"/>
            <a:r>
              <a:rPr lang="en-IN" sz="2000" dirty="0">
                <a:latin typeface="Times New Roman" panose="02020603050405020304" pitchFamily="18" charset="0"/>
                <a:cs typeface="Times New Roman" panose="02020603050405020304" pitchFamily="18" charset="0"/>
              </a:rPr>
              <a:t>AI-generated explanation </a:t>
            </a:r>
          </a:p>
          <a:p>
            <a:pPr lvl="0"/>
            <a:r>
              <a:rPr lang="en-IN" sz="2000" dirty="0">
                <a:latin typeface="Times New Roman" panose="02020603050405020304" pitchFamily="18" charset="0"/>
                <a:cs typeface="Times New Roman" panose="02020603050405020304" pitchFamily="18" charset="0"/>
              </a:rPr>
              <a:t>Recommended actions </a:t>
            </a:r>
          </a:p>
          <a:p>
            <a:pPr lvl="0"/>
            <a:r>
              <a:rPr lang="en-IN" sz="2000" dirty="0">
                <a:latin typeface="Times New Roman" panose="02020603050405020304" pitchFamily="18" charset="0"/>
                <a:cs typeface="Times New Roman" panose="02020603050405020304" pitchFamily="18" charset="0"/>
              </a:rPr>
              <a:t>AI decision trace </a:t>
            </a:r>
          </a:p>
          <a:p>
            <a:pPr lvl="0"/>
            <a:r>
              <a:rPr lang="en-IN" sz="2000" dirty="0">
                <a:latin typeface="Times New Roman" panose="02020603050405020304" pitchFamily="18" charset="0"/>
                <a:cs typeface="Times New Roman" panose="02020603050405020304" pitchFamily="18" charset="0"/>
              </a:rPr>
              <a:t>What-if simulations </a:t>
            </a:r>
          </a:p>
          <a:p>
            <a:r>
              <a:rPr lang="en-IN" sz="2000" dirty="0">
                <a:latin typeface="Times New Roman" panose="02020603050405020304" pitchFamily="18" charset="0"/>
                <a:cs typeface="Times New Roman" panose="02020603050405020304" pitchFamily="18" charset="0"/>
              </a:rPr>
              <a:t>This provides a </a:t>
            </a:r>
            <a:r>
              <a:rPr lang="en-IN" sz="2000" b="1" dirty="0">
                <a:latin typeface="Times New Roman" panose="02020603050405020304" pitchFamily="18" charset="0"/>
                <a:cs typeface="Times New Roman" panose="02020603050405020304" pitchFamily="18" charset="0"/>
              </a:rPr>
              <a:t>complete digital health record for each farm</a:t>
            </a:r>
            <a:r>
              <a:rPr lang="en-IN"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4688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2EAE403-DCBC-EB28-3E0B-AE27E97261A1}"/>
              </a:ext>
            </a:extLst>
          </p:cNvPr>
          <p:cNvSpPr>
            <a:spLocks noGrp="1"/>
          </p:cNvSpPr>
          <p:nvPr>
            <p:ph type="body" idx="1"/>
          </p:nvPr>
        </p:nvSpPr>
        <p:spPr>
          <a:xfrm>
            <a:off x="228600" y="266700"/>
            <a:ext cx="17830800" cy="3693319"/>
          </a:xfrm>
        </p:spPr>
        <p:txBody>
          <a:bodyPr/>
          <a:lstStyle/>
          <a:p>
            <a:r>
              <a:rPr lang="en-IN" sz="2000" b="1" dirty="0">
                <a:latin typeface="Times New Roman" panose="02020603050405020304" pitchFamily="18" charset="0"/>
                <a:cs typeface="Times New Roman" panose="02020603050405020304" pitchFamily="18" charset="0"/>
              </a:rPr>
              <a:t>14. IBM Granite Integration</a:t>
            </a:r>
          </a:p>
          <a:p>
            <a:r>
              <a:rPr lang="en-IN" sz="2000" dirty="0">
                <a:latin typeface="Times New Roman" panose="02020603050405020304" pitchFamily="18" charset="0"/>
                <a:cs typeface="Times New Roman" panose="02020603050405020304" pitchFamily="18" charset="0"/>
              </a:rPr>
              <a:t>The platform can use </a:t>
            </a:r>
            <a:r>
              <a:rPr lang="en-IN" sz="2000" b="1" dirty="0">
                <a:latin typeface="Times New Roman" panose="02020603050405020304" pitchFamily="18" charset="0"/>
                <a:cs typeface="Times New Roman" panose="02020603050405020304" pitchFamily="18" charset="0"/>
              </a:rPr>
              <a:t>IBM Granite</a:t>
            </a:r>
            <a:r>
              <a:rPr lang="en-IN" sz="2000" dirty="0">
                <a:latin typeface="Times New Roman" panose="02020603050405020304" pitchFamily="18" charset="0"/>
                <a:cs typeface="Times New Roman" panose="02020603050405020304" pitchFamily="18" charset="0"/>
              </a:rPr>
              <a:t> as the generative AI intelligence layer.</a:t>
            </a:r>
          </a:p>
          <a:p>
            <a:r>
              <a:rPr lang="en-IN" sz="2000" dirty="0">
                <a:latin typeface="Times New Roman" panose="02020603050405020304" pitchFamily="18" charset="0"/>
                <a:cs typeface="Times New Roman" panose="02020603050405020304" pitchFamily="18" charset="0"/>
              </a:rPr>
              <a:t>Granite can help transform structured farm data into:</a:t>
            </a:r>
          </a:p>
          <a:p>
            <a:pPr lvl="0"/>
            <a:r>
              <a:rPr lang="en-IN" sz="2000" dirty="0">
                <a:latin typeface="Times New Roman" panose="02020603050405020304" pitchFamily="18" charset="0"/>
                <a:cs typeface="Times New Roman" panose="02020603050405020304" pitchFamily="18" charset="0"/>
              </a:rPr>
              <a:t>Natural-language explanations </a:t>
            </a:r>
          </a:p>
          <a:p>
            <a:pPr lvl="0"/>
            <a:r>
              <a:rPr lang="en-IN" sz="2000" dirty="0">
                <a:latin typeface="Times New Roman" panose="02020603050405020304" pitchFamily="18" charset="0"/>
                <a:cs typeface="Times New Roman" panose="02020603050405020304" pitchFamily="18" charset="0"/>
              </a:rPr>
              <a:t>Farm-specific insights </a:t>
            </a:r>
          </a:p>
          <a:p>
            <a:pPr lvl="0"/>
            <a:r>
              <a:rPr lang="en-IN" sz="2000" dirty="0">
                <a:latin typeface="Times New Roman" panose="02020603050405020304" pitchFamily="18" charset="0"/>
                <a:cs typeface="Times New Roman" panose="02020603050405020304" pitchFamily="18" charset="0"/>
              </a:rPr>
              <a:t>Recommendations </a:t>
            </a:r>
          </a:p>
          <a:p>
            <a:pPr lvl="0"/>
            <a:r>
              <a:rPr lang="en-IN" sz="2000" dirty="0">
                <a:latin typeface="Times New Roman" panose="02020603050405020304" pitchFamily="18" charset="0"/>
                <a:cs typeface="Times New Roman" panose="02020603050405020304" pitchFamily="18" charset="0"/>
              </a:rPr>
              <a:t>Decision reasoning </a:t>
            </a:r>
          </a:p>
          <a:p>
            <a:pPr lvl="0"/>
            <a:r>
              <a:rPr lang="en-IN" sz="2000" dirty="0">
                <a:latin typeface="Times New Roman" panose="02020603050405020304" pitchFamily="18" charset="0"/>
                <a:cs typeface="Times New Roman" panose="02020603050405020304" pitchFamily="18" charset="0"/>
              </a:rPr>
              <a:t>Risk summaries </a:t>
            </a:r>
          </a:p>
          <a:p>
            <a:pPr lvl="0"/>
            <a:r>
              <a:rPr lang="en-IN" sz="2000" dirty="0">
                <a:latin typeface="Times New Roman" panose="02020603050405020304" pitchFamily="18" charset="0"/>
                <a:cs typeface="Times New Roman" panose="02020603050405020304" pitchFamily="18" charset="0"/>
              </a:rPr>
              <a:t>Farmer-friendly responses</a:t>
            </a:r>
          </a:p>
          <a:p>
            <a:pPr lvl="0"/>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06F5686-B42E-D2F9-60D3-63E98BB5516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22749" y="4457700"/>
            <a:ext cx="9842501" cy="5368637"/>
          </a:xfrm>
          <a:prstGeom prst="rect">
            <a:avLst/>
          </a:prstGeom>
        </p:spPr>
      </p:pic>
      <p:sp>
        <p:nvSpPr>
          <p:cNvPr id="8" name="TextBox 7">
            <a:extLst>
              <a:ext uri="{FF2B5EF4-FFF2-40B4-BE49-F238E27FC236}">
                <a16:creationId xmlns:a16="http://schemas.microsoft.com/office/drawing/2014/main" id="{AF5CAE71-E16F-7312-ECD8-DF623B1718AD}"/>
              </a:ext>
            </a:extLst>
          </p:cNvPr>
          <p:cNvSpPr txBox="1"/>
          <p:nvPr/>
        </p:nvSpPr>
        <p:spPr>
          <a:xfrm>
            <a:off x="7391400" y="3934892"/>
            <a:ext cx="4800600" cy="646331"/>
          </a:xfrm>
          <a:prstGeom prst="rect">
            <a:avLst/>
          </a:prstGeom>
          <a:noFill/>
        </p:spPr>
        <p:txBody>
          <a:bodyPr wrap="square" rtlCol="0">
            <a:spAutoFit/>
          </a:bodyPr>
          <a:lstStyle/>
          <a:p>
            <a:r>
              <a:rPr lang="en-IN" sz="1800" b="1" dirty="0">
                <a:latin typeface="Times New Roman" panose="02020603050405020304" pitchFamily="18" charset="0"/>
                <a:cs typeface="Times New Roman" panose="02020603050405020304" pitchFamily="18" charset="0"/>
              </a:rPr>
              <a:t>15. Complete System Workflow</a:t>
            </a:r>
          </a:p>
          <a:p>
            <a:endParaRPr lang="en-IN" b="1" dirty="0"/>
          </a:p>
        </p:txBody>
      </p:sp>
    </p:spTree>
    <p:extLst>
      <p:ext uri="{BB962C8B-B14F-4D97-AF65-F5344CB8AC3E}">
        <p14:creationId xmlns:p14="http://schemas.microsoft.com/office/powerpoint/2010/main" val="2565727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59566" rIns="0" bIns="0" rtlCol="0">
            <a:spAutoFit/>
          </a:bodyPr>
          <a:lstStyle/>
          <a:p>
            <a:pPr marL="913130">
              <a:lnSpc>
                <a:spcPct val="100000"/>
              </a:lnSpc>
              <a:spcBef>
                <a:spcPts val="100"/>
              </a:spcBef>
            </a:pPr>
            <a:r>
              <a:rPr lang="en-IN" dirty="0">
                <a:latin typeface="Times New Roman" panose="02020603050405020304" pitchFamily="18" charset="0"/>
                <a:cs typeface="Times New Roman" panose="02020603050405020304" pitchFamily="18" charset="0"/>
              </a:rPr>
              <a:t>TECHNOLOGY </a:t>
            </a:r>
            <a:r>
              <a:rPr lang="en-IN" spc="-20" dirty="0">
                <a:latin typeface="Times New Roman" panose="02020603050405020304" pitchFamily="18" charset="0"/>
                <a:cs typeface="Times New Roman" panose="02020603050405020304" pitchFamily="18" charset="0"/>
              </a:rPr>
              <a:t>USED</a:t>
            </a:r>
          </a:p>
        </p:txBody>
      </p:sp>
      <p:sp>
        <p:nvSpPr>
          <p:cNvPr id="4" name="object 4"/>
          <p:cNvSpPr txBox="1">
            <a:spLocks noGrp="1"/>
          </p:cNvSpPr>
          <p:nvPr>
            <p:ph type="body" idx="1"/>
          </p:nvPr>
        </p:nvSpPr>
        <p:spPr>
          <a:xfrm>
            <a:off x="685800" y="1790700"/>
            <a:ext cx="16208761" cy="6660798"/>
          </a:xfrm>
          <a:prstGeom prst="rect">
            <a:avLst/>
          </a:prstGeom>
        </p:spPr>
        <p:txBody>
          <a:bodyPr vert="horz" wrap="square" lIns="0" tIns="12700" rIns="0" bIns="0" rtlCol="0">
            <a:spAutoFit/>
          </a:bodyPr>
          <a:lstStyle/>
          <a:p>
            <a:pPr marL="457200" indent="-4572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IBM Agentic AI</a:t>
            </a:r>
            <a:r>
              <a:rPr lang="en-IN" sz="2400" dirty="0">
                <a:latin typeface="Times New Roman" panose="02020603050405020304" pitchFamily="18" charset="0"/>
                <a:cs typeface="Times New Roman" panose="02020603050405020304" pitchFamily="18" charset="0"/>
              </a:rPr>
              <a:t> – Full-stack AI workflow orchestration for intelligent farm monitoring and decision-making.</a:t>
            </a:r>
          </a:p>
          <a:p>
            <a:pPr marL="457200" indent="-4572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IBM Granite</a:t>
            </a:r>
            <a:r>
              <a:rPr lang="en-IN" sz="2400" dirty="0">
                <a:latin typeface="Times New Roman" panose="02020603050405020304" pitchFamily="18" charset="0"/>
                <a:cs typeface="Times New Roman" panose="02020603050405020304" pitchFamily="18" charset="0"/>
              </a:rPr>
              <a:t> – Multilingual reasoning, farm-health summarization, explainable insights, and recommendation generation.</a:t>
            </a:r>
          </a:p>
          <a:p>
            <a:pPr marL="457200" indent="-4572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IBM Cloud</a:t>
            </a:r>
            <a:r>
              <a:rPr lang="en-IN" sz="2400" dirty="0">
                <a:latin typeface="Times New Roman" panose="02020603050405020304" pitchFamily="18" charset="0"/>
                <a:cs typeface="Times New Roman" panose="02020603050405020304" pitchFamily="18" charset="0"/>
              </a:rPr>
              <a:t> – Secure and scalable deployment infrastructure for Salinity Shield AI.</a:t>
            </a:r>
          </a:p>
          <a:p>
            <a:pPr marL="457200" indent="-4572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Grounded AI</a:t>
            </a:r>
            <a:r>
              <a:rPr lang="en-IN" sz="2400" dirty="0">
                <a:latin typeface="Times New Roman" panose="02020603050405020304" pitchFamily="18" charset="0"/>
                <a:cs typeface="Times New Roman" panose="02020603050405020304" pitchFamily="18" charset="0"/>
              </a:rPr>
              <a:t> – Supplies real-time farm and sensor data as context to Granite for reliable, data-grounded recommendations.</a:t>
            </a:r>
          </a:p>
          <a:p>
            <a:pPr marL="457200" indent="-4572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Machine Learning</a:t>
            </a:r>
            <a:r>
              <a:rPr lang="en-IN" sz="2400" dirty="0">
                <a:latin typeface="Times New Roman" panose="02020603050405020304" pitchFamily="18" charset="0"/>
                <a:cs typeface="Times New Roman" panose="02020603050405020304" pitchFamily="18" charset="0"/>
              </a:rPr>
              <a:t> – Predicts salinity risk using EC, moisture, pH, historical readings, crop, irrigation, weather, and coastal-location features.</a:t>
            </a:r>
          </a:p>
          <a:p>
            <a:pPr marL="457200" indent="-4572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Geospatial Intelligence</a:t>
            </a:r>
            <a:r>
              <a:rPr lang="en-IN" sz="2400" dirty="0">
                <a:latin typeface="Times New Roman" panose="02020603050405020304" pitchFamily="18" charset="0"/>
                <a:cs typeface="Times New Roman" panose="02020603050405020304" pitchFamily="18" charset="0"/>
              </a:rPr>
              <a:t> – Interactive risk map showing farms, salinity hotspots, critical zones, and regional risk levels.</a:t>
            </a:r>
          </a:p>
          <a:p>
            <a:pPr marL="457200" indent="-4572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Predictive Analytics</a:t>
            </a:r>
            <a:r>
              <a:rPr lang="en-IN" sz="2400" dirty="0">
                <a:latin typeface="Times New Roman" panose="02020603050405020304" pitchFamily="18" charset="0"/>
                <a:cs typeface="Times New Roman" panose="02020603050405020304" pitchFamily="18" charset="0"/>
              </a:rPr>
              <a:t> – Forecasts future salinity trends and enables early intervention.</a:t>
            </a:r>
          </a:p>
          <a:p>
            <a:pPr marL="457200" indent="-4572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Explainable AI</a:t>
            </a:r>
            <a:r>
              <a:rPr lang="en-IN" sz="2400" dirty="0">
                <a:latin typeface="Times New Roman" panose="02020603050405020304" pitchFamily="18" charset="0"/>
                <a:cs typeface="Times New Roman" panose="02020603050405020304" pitchFamily="18" charset="0"/>
              </a:rPr>
              <a:t> – AI Decision Trace explains observations, risk assessment, and recommended actions.</a:t>
            </a:r>
          </a:p>
          <a:p>
            <a:pPr marL="457200" indent="-4572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What-If Simulation</a:t>
            </a:r>
            <a:r>
              <a:rPr lang="en-IN" sz="2400" dirty="0">
                <a:latin typeface="Times New Roman" panose="02020603050405020304" pitchFamily="18" charset="0"/>
                <a:cs typeface="Times New Roman" panose="02020603050405020304" pitchFamily="18" charset="0"/>
              </a:rPr>
              <a:t> – Evaluates potential interventions and their impact on farm health and salinity risk.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08032" y="723900"/>
            <a:ext cx="6354768" cy="566822"/>
          </a:xfrm>
          <a:prstGeom prst="rect">
            <a:avLst/>
          </a:prstGeom>
        </p:spPr>
        <p:txBody>
          <a:bodyPr vert="horz" wrap="square" lIns="0" tIns="12700" rIns="0" bIns="0" rtlCol="0">
            <a:spAutoFit/>
          </a:bodyPr>
          <a:lstStyle/>
          <a:p>
            <a:pPr marL="12700">
              <a:lnSpc>
                <a:spcPct val="100000"/>
              </a:lnSpc>
              <a:spcBef>
                <a:spcPts val="100"/>
              </a:spcBef>
            </a:pPr>
            <a:r>
              <a:rPr sz="3600" b="1" dirty="0">
                <a:latin typeface="Times New Roman" panose="02020603050405020304" pitchFamily="18" charset="0"/>
                <a:cs typeface="Times New Roman" panose="02020603050405020304" pitchFamily="18" charset="0"/>
              </a:rPr>
              <a:t>Core Components Used </a:t>
            </a:r>
            <a:r>
              <a:rPr sz="3600" b="1" spc="-50" dirty="0">
                <a:latin typeface="Times New Roman" panose="02020603050405020304" pitchFamily="18" charset="0"/>
                <a:cs typeface="Times New Roman" panose="02020603050405020304" pitchFamily="18" charset="0"/>
              </a:rPr>
              <a:t>–</a:t>
            </a:r>
            <a:endParaRPr sz="3600" b="1" dirty="0">
              <a:latin typeface="Times New Roman" panose="02020603050405020304" pitchFamily="18" charset="0"/>
              <a:cs typeface="Times New Roman" panose="02020603050405020304" pitchFamily="18" charset="0"/>
            </a:endParaRPr>
          </a:p>
        </p:txBody>
      </p:sp>
      <p:sp>
        <p:nvSpPr>
          <p:cNvPr id="3" name="object 3"/>
          <p:cNvSpPr txBox="1"/>
          <p:nvPr/>
        </p:nvSpPr>
        <p:spPr>
          <a:xfrm>
            <a:off x="790972" y="1623076"/>
            <a:ext cx="17116028" cy="6660798"/>
          </a:xfrm>
          <a:prstGeom prst="rect">
            <a:avLst/>
          </a:prstGeom>
        </p:spPr>
        <p:txBody>
          <a:bodyPr vert="horz" wrap="square" lIns="0" tIns="12700" rIns="0" bIns="0" rtlCol="0">
            <a:spAutoFit/>
          </a:bodyPr>
          <a:lstStyle/>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 Farmer Input</a:t>
            </a:r>
            <a:r>
              <a:rPr lang="en-IN" sz="2400" dirty="0">
                <a:latin typeface="Times New Roman" panose="02020603050405020304" pitchFamily="18" charset="0"/>
                <a:cs typeface="Times New Roman" panose="02020603050405020304" pitchFamily="18" charset="0"/>
              </a:rPr>
              <a:t> – Interface for farm details, crop information, observations, and sensor/simulated sensor data.</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 IBM Granite Agent</a:t>
            </a:r>
            <a:r>
              <a:rPr lang="en-IN" sz="2400" dirty="0">
                <a:latin typeface="Times New Roman" panose="02020603050405020304" pitchFamily="18" charset="0"/>
                <a:cs typeface="Times New Roman" panose="02020603050405020304" pitchFamily="18" charset="0"/>
              </a:rPr>
              <a:t> – Analyses farm conditions, summarizes salinity incidents, detects abnormal trends, and generates grounded recommendations.</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 IBM Granite Model</a:t>
            </a:r>
            <a:r>
              <a:rPr lang="en-IN" sz="2400" dirty="0">
                <a:latin typeface="Times New Roman" panose="02020603050405020304" pitchFamily="18" charset="0"/>
                <a:cs typeface="Times New Roman" panose="02020603050405020304" pitchFamily="18" charset="0"/>
              </a:rPr>
              <a:t> – Provides multilingual understanding, reasoning, explanation, and AI-powered farm advisory.</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 AI Output</a:t>
            </a:r>
            <a:r>
              <a:rPr lang="en-IN" sz="2400" dirty="0">
                <a:latin typeface="Times New Roman" panose="02020603050405020304" pitchFamily="18" charset="0"/>
                <a:cs typeface="Times New Roman" panose="02020603050405020304" pitchFamily="18" charset="0"/>
              </a:rPr>
              <a:t> – Displays risk explanations, farm-health summaries, forecasts, alerts, recommended actions, and AI Decision Traces.</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 Data Layer</a:t>
            </a:r>
            <a:r>
              <a:rPr lang="en-IN" sz="2400" dirty="0">
                <a:latin typeface="Times New Roman" panose="02020603050405020304" pitchFamily="18" charset="0"/>
                <a:cs typeface="Times New Roman" panose="02020603050405020304" pitchFamily="18" charset="0"/>
              </a:rPr>
              <a:t> – Stores farms, sensor readings, EC, moisture, pH, historical data, risk predictions, alerts, recommendations, simulations, and audit logs.</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 Interactive Map &amp; Dashboard</a:t>
            </a:r>
            <a:r>
              <a:rPr lang="en-IN" sz="2400" dirty="0">
                <a:latin typeface="Times New Roman" panose="02020603050405020304" pitchFamily="18" charset="0"/>
                <a:cs typeface="Times New Roman" panose="02020603050405020304" pitchFamily="18" charset="0"/>
              </a:rPr>
              <a:t> – Visualizes farms, salinity-risk zones, hotspots, critical farms, sensor conditions, alerts, and regional coastal risk.</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 ML Prediction Engine</a:t>
            </a:r>
            <a:r>
              <a:rPr lang="en-IN" sz="2400" dirty="0">
                <a:latin typeface="Times New Roman" panose="02020603050405020304" pitchFamily="18" charset="0"/>
                <a:cs typeface="Times New Roman" panose="02020603050405020304" pitchFamily="18" charset="0"/>
              </a:rPr>
              <a:t> – Predicts future salinity risk using sensor, historical, crop, irrigation, weather, and location data.</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 What-If Simulator</a:t>
            </a:r>
            <a:r>
              <a:rPr lang="en-IN" sz="2400" dirty="0">
                <a:latin typeface="Times New Roman" panose="02020603050405020304" pitchFamily="18" charset="0"/>
                <a:cs typeface="Times New Roman" panose="02020603050405020304" pitchFamily="18" charset="0"/>
              </a:rPr>
              <a:t> – Evaluates potential interventions and their impact on salinity, farm health, and risk.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9E90ADD-7F97-0CCD-BFB3-07C500B491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345920"/>
            <a:ext cx="17655918" cy="95219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28D1451-323A-12FC-E668-D5FAA40C38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463380"/>
            <a:ext cx="17754600" cy="940451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8E0D910-B73F-05F5-A513-4E012E35A2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373308"/>
            <a:ext cx="17754600" cy="964699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258F67-8AA1-7D91-3D67-AD079B3DD1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477214"/>
            <a:ext cx="17788484" cy="939068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BD5D6F-B077-EAF2-6372-35DD919751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342900"/>
            <a:ext cx="17627298" cy="9601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141044-855D-0EE0-11C3-34C5483410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342900"/>
            <a:ext cx="17788484" cy="96774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38CEDED-A656-72E7-9C38-AE83898E5F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266700"/>
            <a:ext cx="17971875" cy="96774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756532-408C-CD5E-92C3-5282C107E2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399" y="266700"/>
            <a:ext cx="17971875" cy="96774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5DC2C08-EB97-B376-3CCD-7BAD7A5B2D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99" y="266700"/>
            <a:ext cx="17861221" cy="96012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DB9EB6-994C-75D3-658B-E158D6CDEB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342900"/>
            <a:ext cx="17697318" cy="9525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4FCD56-958C-C49B-A908-73462D9813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99" y="342900"/>
            <a:ext cx="17758185" cy="96012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9864D5F-0AC4-15CF-3CD5-4CA6BC790B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66700"/>
            <a:ext cx="17869540" cy="96774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FDE0B7-5381-65A5-E4F7-1204FDCE0F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66700"/>
            <a:ext cx="17837871" cy="96774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602675-54C5-9E92-4CC2-5FE4489E39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342900"/>
            <a:ext cx="17635547" cy="9525000"/>
          </a:xfrm>
          <a:prstGeom prst="rect">
            <a:avLst/>
          </a:prstGeom>
        </p:spPr>
      </p:pic>
    </p:spTree>
    <p:extLst>
      <p:ext uri="{BB962C8B-B14F-4D97-AF65-F5344CB8AC3E}">
        <p14:creationId xmlns:p14="http://schemas.microsoft.com/office/powerpoint/2010/main" val="7412479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E15BF9-3B90-1165-628C-FF43B57159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199" y="419100"/>
            <a:ext cx="17609881" cy="9448800"/>
          </a:xfrm>
          <a:prstGeom prst="rect">
            <a:avLst/>
          </a:prstGeom>
        </p:spPr>
      </p:pic>
    </p:spTree>
    <p:extLst>
      <p:ext uri="{BB962C8B-B14F-4D97-AF65-F5344CB8AC3E}">
        <p14:creationId xmlns:p14="http://schemas.microsoft.com/office/powerpoint/2010/main" val="38295444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FFDA6A-05A5-E64B-70E0-1802616ABA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999" y="342900"/>
            <a:ext cx="17644751" cy="9525000"/>
          </a:xfrm>
          <a:prstGeom prst="rect">
            <a:avLst/>
          </a:prstGeom>
        </p:spPr>
      </p:pic>
    </p:spTree>
    <p:extLst>
      <p:ext uri="{BB962C8B-B14F-4D97-AF65-F5344CB8AC3E}">
        <p14:creationId xmlns:p14="http://schemas.microsoft.com/office/powerpoint/2010/main" val="26296821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210FA5-BCCE-26FF-8602-A841BF89CB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99" y="342900"/>
            <a:ext cx="17666935" cy="9601200"/>
          </a:xfrm>
          <a:prstGeom prst="rect">
            <a:avLst/>
          </a:prstGeom>
        </p:spPr>
      </p:pic>
    </p:spTree>
    <p:extLst>
      <p:ext uri="{BB962C8B-B14F-4D97-AF65-F5344CB8AC3E}">
        <p14:creationId xmlns:p14="http://schemas.microsoft.com/office/powerpoint/2010/main" val="2443674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03BB44-4BDF-2E40-C2DC-D285B48F32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90500"/>
            <a:ext cx="17883864" cy="9753600"/>
          </a:xfrm>
          <a:prstGeom prst="rect">
            <a:avLst/>
          </a:prstGeom>
        </p:spPr>
      </p:pic>
    </p:spTree>
    <p:extLst>
      <p:ext uri="{BB962C8B-B14F-4D97-AF65-F5344CB8AC3E}">
        <p14:creationId xmlns:p14="http://schemas.microsoft.com/office/powerpoint/2010/main" val="9473364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FD3485-A100-75AD-390B-0B335A9076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999" y="342900"/>
            <a:ext cx="17666935" cy="9601200"/>
          </a:xfrm>
          <a:prstGeom prst="rect">
            <a:avLst/>
          </a:prstGeom>
        </p:spPr>
      </p:pic>
    </p:spTree>
    <p:extLst>
      <p:ext uri="{BB962C8B-B14F-4D97-AF65-F5344CB8AC3E}">
        <p14:creationId xmlns:p14="http://schemas.microsoft.com/office/powerpoint/2010/main" val="2080749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DCC946-A968-44E2-5007-FD9E8ECBB1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817" y="266700"/>
            <a:ext cx="17866365" cy="9677400"/>
          </a:xfrm>
          <a:prstGeom prst="rect">
            <a:avLst/>
          </a:prstGeom>
        </p:spPr>
      </p:pic>
    </p:spTree>
    <p:extLst>
      <p:ext uri="{BB962C8B-B14F-4D97-AF65-F5344CB8AC3E}">
        <p14:creationId xmlns:p14="http://schemas.microsoft.com/office/powerpoint/2010/main" val="41551105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3170EA-8044-6A80-35D0-D2678D096D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342900"/>
            <a:ext cx="17828100" cy="9677400"/>
          </a:xfrm>
          <a:prstGeom prst="rect">
            <a:avLst/>
          </a:prstGeom>
        </p:spPr>
      </p:pic>
    </p:spTree>
    <p:extLst>
      <p:ext uri="{BB962C8B-B14F-4D97-AF65-F5344CB8AC3E}">
        <p14:creationId xmlns:p14="http://schemas.microsoft.com/office/powerpoint/2010/main" val="32722988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E28C21-93DB-06E2-EF55-DEE74C653A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99" y="342900"/>
            <a:ext cx="17866365" cy="9601200"/>
          </a:xfrm>
          <a:prstGeom prst="rect">
            <a:avLst/>
          </a:prstGeom>
        </p:spPr>
      </p:pic>
    </p:spTree>
    <p:extLst>
      <p:ext uri="{BB962C8B-B14F-4D97-AF65-F5344CB8AC3E}">
        <p14:creationId xmlns:p14="http://schemas.microsoft.com/office/powerpoint/2010/main" val="36265304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452C2C-007E-5A99-3AF7-397A67971A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99" y="342900"/>
            <a:ext cx="17701749" cy="9601200"/>
          </a:xfrm>
          <a:prstGeom prst="rect">
            <a:avLst/>
          </a:prstGeom>
        </p:spPr>
      </p:pic>
    </p:spTree>
    <p:extLst>
      <p:ext uri="{BB962C8B-B14F-4D97-AF65-F5344CB8AC3E}">
        <p14:creationId xmlns:p14="http://schemas.microsoft.com/office/powerpoint/2010/main" val="21676602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BC2A04-2FA3-9E60-9C00-36A407A733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99" y="342900"/>
            <a:ext cx="17684325" cy="9601200"/>
          </a:xfrm>
          <a:prstGeom prst="rect">
            <a:avLst/>
          </a:prstGeom>
        </p:spPr>
      </p:pic>
    </p:spTree>
    <p:extLst>
      <p:ext uri="{BB962C8B-B14F-4D97-AF65-F5344CB8AC3E}">
        <p14:creationId xmlns:p14="http://schemas.microsoft.com/office/powerpoint/2010/main" val="38975441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ADC916-E9D7-16C3-FE39-51E057F01A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342900"/>
            <a:ext cx="17801278" cy="9525000"/>
          </a:xfrm>
          <a:prstGeom prst="rect">
            <a:avLst/>
          </a:prstGeom>
        </p:spPr>
      </p:pic>
    </p:spTree>
    <p:extLst>
      <p:ext uri="{BB962C8B-B14F-4D97-AF65-F5344CB8AC3E}">
        <p14:creationId xmlns:p14="http://schemas.microsoft.com/office/powerpoint/2010/main" val="33464312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E45BA1-F270-C175-E6F8-081C887A83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66699"/>
            <a:ext cx="17830800" cy="9811679"/>
          </a:xfrm>
          <a:prstGeom prst="rect">
            <a:avLst/>
          </a:prstGeom>
        </p:spPr>
      </p:pic>
    </p:spTree>
    <p:extLst>
      <p:ext uri="{BB962C8B-B14F-4D97-AF65-F5344CB8AC3E}">
        <p14:creationId xmlns:p14="http://schemas.microsoft.com/office/powerpoint/2010/main" val="4417333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8DE08A-8349-6508-2A3B-5C5282F9E0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66700"/>
            <a:ext cx="17898568" cy="9677400"/>
          </a:xfrm>
          <a:prstGeom prst="rect">
            <a:avLst/>
          </a:prstGeom>
        </p:spPr>
      </p:pic>
    </p:spTree>
    <p:extLst>
      <p:ext uri="{BB962C8B-B14F-4D97-AF65-F5344CB8AC3E}">
        <p14:creationId xmlns:p14="http://schemas.microsoft.com/office/powerpoint/2010/main" val="1796306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B49E14-3B0A-9B36-9A63-FFCEC510E3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66700"/>
            <a:ext cx="17657719" cy="9677400"/>
          </a:xfrm>
          <a:prstGeom prst="rect">
            <a:avLst/>
          </a:prstGeom>
        </p:spPr>
      </p:pic>
    </p:spTree>
    <p:extLst>
      <p:ext uri="{BB962C8B-B14F-4D97-AF65-F5344CB8AC3E}">
        <p14:creationId xmlns:p14="http://schemas.microsoft.com/office/powerpoint/2010/main" val="1955803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0FC7CB-73D1-6789-154B-77DD062CC3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99" y="266700"/>
            <a:ext cx="17758185" cy="9753600"/>
          </a:xfrm>
          <a:prstGeom prst="rect">
            <a:avLst/>
          </a:prstGeom>
        </p:spPr>
      </p:pic>
    </p:spTree>
    <p:extLst>
      <p:ext uri="{BB962C8B-B14F-4D97-AF65-F5344CB8AC3E}">
        <p14:creationId xmlns:p14="http://schemas.microsoft.com/office/powerpoint/2010/main" val="5421976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C4B7AA-1E04-1C0C-76CB-9829D01BFC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342900"/>
            <a:ext cx="17605785" cy="9525000"/>
          </a:xfrm>
          <a:prstGeom prst="rect">
            <a:avLst/>
          </a:prstGeom>
        </p:spPr>
      </p:pic>
    </p:spTree>
    <p:extLst>
      <p:ext uri="{BB962C8B-B14F-4D97-AF65-F5344CB8AC3E}">
        <p14:creationId xmlns:p14="http://schemas.microsoft.com/office/powerpoint/2010/main" val="8038786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C1096D-4B8C-A31E-DC6E-DBFA1B5353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342900"/>
            <a:ext cx="17723434" cy="9525000"/>
          </a:xfrm>
          <a:prstGeom prst="rect">
            <a:avLst/>
          </a:prstGeom>
        </p:spPr>
      </p:pic>
    </p:spTree>
    <p:extLst>
      <p:ext uri="{BB962C8B-B14F-4D97-AF65-F5344CB8AC3E}">
        <p14:creationId xmlns:p14="http://schemas.microsoft.com/office/powerpoint/2010/main" val="42461611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4F03E9-71E6-4574-E9FE-B7837A1182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342900"/>
            <a:ext cx="17581322" cy="9525000"/>
          </a:xfrm>
          <a:prstGeom prst="rect">
            <a:avLst/>
          </a:prstGeom>
        </p:spPr>
      </p:pic>
    </p:spTree>
    <p:extLst>
      <p:ext uri="{BB962C8B-B14F-4D97-AF65-F5344CB8AC3E}">
        <p14:creationId xmlns:p14="http://schemas.microsoft.com/office/powerpoint/2010/main" val="7082456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CDECE1-37B1-8AF9-DAF6-68687DE01D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99" y="342900"/>
            <a:ext cx="17684325" cy="9601200"/>
          </a:xfrm>
          <a:prstGeom prst="rect">
            <a:avLst/>
          </a:prstGeom>
        </p:spPr>
      </p:pic>
    </p:spTree>
    <p:extLst>
      <p:ext uri="{BB962C8B-B14F-4D97-AF65-F5344CB8AC3E}">
        <p14:creationId xmlns:p14="http://schemas.microsoft.com/office/powerpoint/2010/main" val="6176196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1BA91D-C86C-0C51-6306-889C96C591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90500"/>
            <a:ext cx="17898568" cy="9753600"/>
          </a:xfrm>
          <a:prstGeom prst="rect">
            <a:avLst/>
          </a:prstGeom>
        </p:spPr>
      </p:pic>
    </p:spTree>
    <p:extLst>
      <p:ext uri="{BB962C8B-B14F-4D97-AF65-F5344CB8AC3E}">
        <p14:creationId xmlns:p14="http://schemas.microsoft.com/office/powerpoint/2010/main" val="3380459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EA2FCD-4FA2-BBD5-44A6-FDC25620A5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342900"/>
            <a:ext cx="17602200" cy="9601200"/>
          </a:xfrm>
          <a:prstGeom prst="rect">
            <a:avLst/>
          </a:prstGeom>
        </p:spPr>
      </p:pic>
    </p:spTree>
    <p:extLst>
      <p:ext uri="{BB962C8B-B14F-4D97-AF65-F5344CB8AC3E}">
        <p14:creationId xmlns:p14="http://schemas.microsoft.com/office/powerpoint/2010/main" val="28461127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716000" y="1714500"/>
            <a:ext cx="4411004" cy="6621148"/>
          </a:xfrm>
          <a:prstGeom prst="rect">
            <a:avLst/>
          </a:prstGeom>
        </p:spPr>
      </p:pic>
      <p:sp>
        <p:nvSpPr>
          <p:cNvPr id="3" name="object 3" descr="$PPTXTitle"/>
          <p:cNvSpPr txBox="1">
            <a:spLocks noGrp="1"/>
          </p:cNvSpPr>
          <p:nvPr>
            <p:ph type="title"/>
          </p:nvPr>
        </p:nvSpPr>
        <p:spPr>
          <a:xfrm>
            <a:off x="343781" y="275001"/>
            <a:ext cx="12762619" cy="898019"/>
          </a:xfrm>
          <a:prstGeom prst="rect">
            <a:avLst/>
          </a:prstGeom>
        </p:spPr>
        <p:txBody>
          <a:bodyPr vert="horz" wrap="square" lIns="0" tIns="157814" rIns="0" bIns="0" rtlCol="0">
            <a:spAutoFit/>
          </a:bodyPr>
          <a:lstStyle/>
          <a:p>
            <a:pPr marL="460375">
              <a:lnSpc>
                <a:spcPct val="100000"/>
              </a:lnSpc>
              <a:spcBef>
                <a:spcPts val="100"/>
              </a:spcBef>
              <a:tabLst>
                <a:tab pos="1950720" algn="l"/>
                <a:tab pos="2695575" algn="l"/>
                <a:tab pos="5100320" algn="l"/>
                <a:tab pos="5879465" algn="l"/>
                <a:tab pos="6590665" algn="l"/>
                <a:tab pos="7674609" algn="l"/>
              </a:tabLst>
            </a:pPr>
            <a:r>
              <a:rPr lang="en-US" sz="4800" dirty="0">
                <a:latin typeface="Times New Roman" panose="02020603050405020304" pitchFamily="18" charset="0"/>
                <a:cs typeface="Times New Roman" panose="02020603050405020304" pitchFamily="18" charset="0"/>
              </a:rPr>
              <a:t>ROLE OF AGENTIC AI IN SOLUTION</a:t>
            </a:r>
          </a:p>
        </p:txBody>
      </p:sp>
      <p:sp>
        <p:nvSpPr>
          <p:cNvPr id="15" name="TextBox 14">
            <a:extLst>
              <a:ext uri="{FF2B5EF4-FFF2-40B4-BE49-F238E27FC236}">
                <a16:creationId xmlns:a16="http://schemas.microsoft.com/office/drawing/2014/main" id="{9AF622BA-C1DC-6522-5567-6E94FD67CA24}"/>
              </a:ext>
            </a:extLst>
          </p:cNvPr>
          <p:cNvSpPr txBox="1"/>
          <p:nvPr/>
        </p:nvSpPr>
        <p:spPr>
          <a:xfrm>
            <a:off x="343782" y="1409700"/>
            <a:ext cx="13219818" cy="8586966"/>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Agentic AI transforms </a:t>
            </a:r>
            <a:r>
              <a:rPr lang="en-IN" sz="2400" b="1" dirty="0">
                <a:latin typeface="Times New Roman" panose="02020603050405020304" pitchFamily="18" charset="0"/>
                <a:cs typeface="Times New Roman" panose="02020603050405020304" pitchFamily="18" charset="0"/>
              </a:rPr>
              <a:t>Salinity Shield AI</a:t>
            </a:r>
            <a:r>
              <a:rPr lang="en-IN" sz="2400" dirty="0">
                <a:latin typeface="Times New Roman" panose="02020603050405020304" pitchFamily="18" charset="0"/>
                <a:cs typeface="Times New Roman" panose="02020603050405020304" pitchFamily="18" charset="0"/>
              </a:rPr>
              <a:t> into a coordinated, proactive agricultural decision-support system where specialized AI agents collaborate through an orchestration layer. Each agent performs a specific role:</a:t>
            </a:r>
          </a:p>
          <a:p>
            <a:r>
              <a:rPr lang="en-IN" sz="2400" b="1" dirty="0">
                <a:latin typeface="Times New Roman" panose="02020603050405020304" pitchFamily="18" charset="0"/>
                <a:cs typeface="Times New Roman" panose="02020603050405020304" pitchFamily="18" charset="0"/>
              </a:rPr>
              <a:t>Salinity Risk Prediction</a:t>
            </a:r>
            <a:r>
              <a:rPr lang="en-IN" sz="2400" dirty="0">
                <a:latin typeface="Times New Roman" panose="02020603050405020304" pitchFamily="18" charset="0"/>
                <a:cs typeface="Times New Roman" panose="02020603050405020304" pitchFamily="18" charset="0"/>
              </a:rPr>
              <a:t> – Identifies current and changing soil-salinity risk levels using EC, moisture, pH, historical readings, crop conditions, irrigation, weather, and coastal-location data.</a:t>
            </a:r>
          </a:p>
          <a:p>
            <a:r>
              <a:rPr lang="en-IN" sz="2400" b="1" dirty="0">
                <a:latin typeface="Times New Roman" panose="02020603050405020304" pitchFamily="18" charset="0"/>
                <a:cs typeface="Times New Roman" panose="02020603050405020304" pitchFamily="18" charset="0"/>
              </a:rPr>
              <a:t>Farm Health Analysis</a:t>
            </a:r>
            <a:r>
              <a:rPr lang="en-IN" sz="2400" dirty="0">
                <a:latin typeface="Times New Roman" panose="02020603050405020304" pitchFamily="18" charset="0"/>
                <a:cs typeface="Times New Roman" panose="02020603050405020304" pitchFamily="18" charset="0"/>
              </a:rPr>
              <a:t> – Evaluates overall farm health, identifies abnormal soil conditions, and determines whether the farm is improving, stable, or deteriorating.</a:t>
            </a:r>
          </a:p>
          <a:p>
            <a:r>
              <a:rPr lang="en-IN" sz="2400" b="1" dirty="0">
                <a:latin typeface="Times New Roman" panose="02020603050405020304" pitchFamily="18" charset="0"/>
                <a:cs typeface="Times New Roman" panose="02020603050405020304" pitchFamily="18" charset="0"/>
              </a:rPr>
              <a:t>Sensor &amp; Trend Analysis</a:t>
            </a:r>
            <a:r>
              <a:rPr lang="en-IN" sz="2400" dirty="0">
                <a:latin typeface="Times New Roman" panose="02020603050405020304" pitchFamily="18" charset="0"/>
                <a:cs typeface="Times New Roman" panose="02020603050405020304" pitchFamily="18" charset="0"/>
              </a:rPr>
              <a:t> – Continuously analyses incoming sensor data and detects unusual changes, rapid EC increases, threshold violations, and emerging salinity patterns.</a:t>
            </a:r>
          </a:p>
          <a:p>
            <a:r>
              <a:rPr lang="en-IN" sz="2400" b="1" dirty="0">
                <a:latin typeface="Times New Roman" panose="02020603050405020304" pitchFamily="18" charset="0"/>
                <a:cs typeface="Times New Roman" panose="02020603050405020304" pitchFamily="18" charset="0"/>
              </a:rPr>
              <a:t>Salinity Forecasting</a:t>
            </a:r>
            <a:r>
              <a:rPr lang="en-IN" sz="2400" dirty="0">
                <a:latin typeface="Times New Roman" panose="02020603050405020304" pitchFamily="18" charset="0"/>
                <a:cs typeface="Times New Roman" panose="02020603050405020304" pitchFamily="18" charset="0"/>
              </a:rPr>
              <a:t> – Predicts future salinity levels and identifies farms that may move toward high or critical risk.</a:t>
            </a:r>
          </a:p>
          <a:p>
            <a:r>
              <a:rPr lang="en-IN" sz="2400" b="1" dirty="0">
                <a:latin typeface="Times New Roman" panose="02020603050405020304" pitchFamily="18" charset="0"/>
                <a:cs typeface="Times New Roman" panose="02020603050405020304" pitchFamily="18" charset="0"/>
              </a:rPr>
              <a:t>Farmer Query Understanding</a:t>
            </a:r>
            <a:r>
              <a:rPr lang="en-IN" sz="2400" dirty="0">
                <a:latin typeface="Times New Roman" panose="02020603050405020304" pitchFamily="18" charset="0"/>
                <a:cs typeface="Times New Roman" panose="02020603050405020304" pitchFamily="18" charset="0"/>
              </a:rPr>
              <a:t> – Understands natural-language farmer questions and converts them into relevant farm-specific insights using available application data.</a:t>
            </a:r>
          </a:p>
          <a:p>
            <a:r>
              <a:rPr lang="en-IN" sz="2400" b="1" dirty="0">
                <a:latin typeface="Times New Roman" panose="02020603050405020304" pitchFamily="18" charset="0"/>
                <a:cs typeface="Times New Roman" panose="02020603050405020304" pitchFamily="18" charset="0"/>
              </a:rPr>
              <a:t>AI Recommendation Agent</a:t>
            </a:r>
            <a:r>
              <a:rPr lang="en-IN" sz="2400" dirty="0">
                <a:latin typeface="Times New Roman" panose="02020603050405020304" pitchFamily="18" charset="0"/>
                <a:cs typeface="Times New Roman" panose="02020603050405020304" pitchFamily="18" charset="0"/>
              </a:rPr>
              <a:t> – Converts risk analysis and farm conditions into prioritized, practical recommendations for salinity management.</a:t>
            </a:r>
          </a:p>
          <a:p>
            <a:r>
              <a:rPr lang="en-IN" sz="2400" b="1" dirty="0">
                <a:latin typeface="Times New Roman" panose="02020603050405020304" pitchFamily="18" charset="0"/>
                <a:cs typeface="Times New Roman" panose="02020603050405020304" pitchFamily="18" charset="0"/>
              </a:rPr>
              <a:t>What-If Simulation Agent</a:t>
            </a:r>
            <a:r>
              <a:rPr lang="en-IN" sz="2400" dirty="0">
                <a:latin typeface="Times New Roman" panose="02020603050405020304" pitchFamily="18" charset="0"/>
                <a:cs typeface="Times New Roman" panose="02020603050405020304" pitchFamily="18" charset="0"/>
              </a:rPr>
              <a:t> – Evaluates potential interventions and estimates how different actions could affect salinity, farm health, and future risk.</a:t>
            </a:r>
          </a:p>
          <a:p>
            <a:r>
              <a:rPr lang="en-IN" sz="2400" b="1" dirty="0">
                <a:latin typeface="Times New Roman" panose="02020603050405020304" pitchFamily="18" charset="0"/>
                <a:cs typeface="Times New Roman" panose="02020603050405020304" pitchFamily="18" charset="0"/>
              </a:rPr>
              <a:t>Geospatial Risk Agent</a:t>
            </a:r>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Analyzes</a:t>
            </a:r>
            <a:r>
              <a:rPr lang="en-IN" sz="2400" dirty="0">
                <a:latin typeface="Times New Roman" panose="02020603050405020304" pitchFamily="18" charset="0"/>
                <a:cs typeface="Times New Roman" panose="02020603050405020304" pitchFamily="18" charset="0"/>
              </a:rPr>
              <a:t> geographical patterns and identifies salinity hotspots, vulnerable farms, and high-risk coastal zones.</a:t>
            </a:r>
          </a:p>
          <a:p>
            <a:r>
              <a:rPr lang="en-IN" sz="2400" b="1" dirty="0">
                <a:latin typeface="Times New Roman" panose="02020603050405020304" pitchFamily="18" charset="0"/>
                <a:cs typeface="Times New Roman" panose="02020603050405020304" pitchFamily="18" charset="0"/>
              </a:rPr>
              <a:t>Alert &amp; Prioritization Agent</a:t>
            </a:r>
            <a:r>
              <a:rPr lang="en-IN" sz="2400" dirty="0">
                <a:latin typeface="Times New Roman" panose="02020603050405020304" pitchFamily="18" charset="0"/>
                <a:cs typeface="Times New Roman" panose="02020603050405020304" pitchFamily="18" charset="0"/>
              </a:rPr>
              <a:t> – Determines the severity of detected conditions and prioritizes farms or situations requiring immediate attention.</a:t>
            </a:r>
          </a:p>
          <a:p>
            <a:r>
              <a:rPr lang="en-IN" sz="2400" b="1" dirty="0">
                <a:latin typeface="Times New Roman" panose="02020603050405020304" pitchFamily="18" charset="0"/>
                <a:cs typeface="Times New Roman" panose="02020603050405020304" pitchFamily="18" charset="0"/>
              </a:rPr>
              <a:t>IBM Granite Agent</a:t>
            </a:r>
            <a:r>
              <a:rPr lang="en-IN" sz="2400" dirty="0">
                <a:latin typeface="Times New Roman" panose="02020603050405020304" pitchFamily="18" charset="0"/>
                <a:cs typeface="Times New Roman" panose="02020603050405020304" pitchFamily="18" charset="0"/>
              </a:rPr>
              <a:t> – Coordinates contextual reasoning, generates multilingual explanations, summarizes farm conditions, and produces grounded recommendations using application data.</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A62E81C-1E79-90F0-02B1-84C1362E2EAD}"/>
              </a:ext>
            </a:extLst>
          </p:cNvPr>
          <p:cNvSpPr>
            <a:spLocks noGrp="1"/>
          </p:cNvSpPr>
          <p:nvPr>
            <p:ph type="body" idx="1"/>
          </p:nvPr>
        </p:nvSpPr>
        <p:spPr>
          <a:xfrm>
            <a:off x="304800" y="419100"/>
            <a:ext cx="17754600" cy="3693319"/>
          </a:xfrm>
        </p:spPr>
        <p:txBody>
          <a:bodyPr/>
          <a:lstStyle/>
          <a:p>
            <a:r>
              <a:rPr lang="en-IN" sz="2400" b="1" dirty="0">
                <a:latin typeface="Times New Roman" panose="02020603050405020304" pitchFamily="18" charset="0"/>
                <a:cs typeface="Times New Roman" panose="02020603050405020304" pitchFamily="18" charset="0"/>
              </a:rPr>
              <a:t>Context-Aware Agentic Workflow</a:t>
            </a:r>
          </a:p>
          <a:p>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The system continuously updates its understanding as new </a:t>
            </a:r>
            <a:r>
              <a:rPr lang="en-IN" sz="2400" b="1" dirty="0">
                <a:latin typeface="Times New Roman" panose="02020603050405020304" pitchFamily="18" charset="0"/>
                <a:cs typeface="Times New Roman" panose="02020603050405020304" pitchFamily="18" charset="0"/>
              </a:rPr>
              <a:t>sensor readings, farm observations, environmental information, historical data, and user inputs</a:t>
            </a:r>
            <a:r>
              <a:rPr lang="en-IN" sz="2400" dirty="0">
                <a:latin typeface="Times New Roman" panose="02020603050405020304" pitchFamily="18" charset="0"/>
                <a:cs typeface="Times New Roman" panose="02020603050405020304" pitchFamily="18" charset="0"/>
              </a:rPr>
              <a:t> become available.</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Through agent collaboration, </a:t>
            </a:r>
            <a:r>
              <a:rPr lang="en-IN" sz="2400" b="1" dirty="0">
                <a:latin typeface="Times New Roman" panose="02020603050405020304" pitchFamily="18" charset="0"/>
                <a:cs typeface="Times New Roman" panose="02020603050405020304" pitchFamily="18" charset="0"/>
              </a:rPr>
              <a:t>Salinity Shield AI</a:t>
            </a:r>
            <a:r>
              <a:rPr lang="en-IN" sz="2400" dirty="0">
                <a:latin typeface="Times New Roman" panose="02020603050405020304" pitchFamily="18" charset="0"/>
                <a:cs typeface="Times New Roman" panose="02020603050405020304" pitchFamily="18" charset="0"/>
              </a:rPr>
              <a:t> moves from:</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Monitoring → Detection → Analysis → Prediction → Risk Prioritization → Recommendation → Human Decision → Intervention → Continuous Monitoring</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71344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0" y="0"/>
            <a:ext cx="9638419" cy="1018052"/>
          </a:xfrm>
          <a:prstGeom prst="rect">
            <a:avLst/>
          </a:prstGeom>
        </p:spPr>
        <p:txBody>
          <a:bodyPr vert="horz" wrap="square" lIns="0" tIns="459566" rIns="0" bIns="0" rtlCol="0">
            <a:spAutoFit/>
          </a:bodyPr>
          <a:lstStyle/>
          <a:p>
            <a:pPr marL="913130">
              <a:lnSpc>
                <a:spcPct val="100000"/>
              </a:lnSpc>
              <a:spcBef>
                <a:spcPts val="100"/>
              </a:spcBef>
            </a:pPr>
            <a:r>
              <a:rPr lang="en-IN" dirty="0">
                <a:latin typeface="Times New Roman" panose="02020603050405020304" pitchFamily="18" charset="0"/>
                <a:cs typeface="Times New Roman" panose="02020603050405020304" pitchFamily="18" charset="0"/>
              </a:rPr>
              <a:t>NOVELTY AND </a:t>
            </a:r>
            <a:r>
              <a:rPr lang="en-IN" spc="-10" dirty="0">
                <a:latin typeface="Times New Roman" panose="02020603050405020304" pitchFamily="18" charset="0"/>
                <a:cs typeface="Times New Roman" panose="02020603050405020304" pitchFamily="18" charset="0"/>
              </a:rPr>
              <a:t>UNIQUENESS</a:t>
            </a:r>
          </a:p>
        </p:txBody>
      </p:sp>
      <p:sp>
        <p:nvSpPr>
          <p:cNvPr id="13" name="TextBox 12">
            <a:extLst>
              <a:ext uri="{FF2B5EF4-FFF2-40B4-BE49-F238E27FC236}">
                <a16:creationId xmlns:a16="http://schemas.microsoft.com/office/drawing/2014/main" id="{A55AD667-7347-AEBC-E402-B5BAD004F472}"/>
              </a:ext>
            </a:extLst>
          </p:cNvPr>
          <p:cNvSpPr txBox="1"/>
          <p:nvPr/>
        </p:nvSpPr>
        <p:spPr>
          <a:xfrm>
            <a:off x="152400" y="1265515"/>
            <a:ext cx="17639419" cy="7755969"/>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Salinity Shield AI</a:t>
            </a:r>
            <a:r>
              <a:rPr lang="en-IN" sz="2000" dirty="0">
                <a:latin typeface="Times New Roman" panose="02020603050405020304" pitchFamily="18" charset="0"/>
                <a:cs typeface="Times New Roman" panose="02020603050405020304" pitchFamily="18" charset="0"/>
              </a:rPr>
              <a:t> combines </a:t>
            </a:r>
            <a:r>
              <a:rPr lang="en-IN" sz="2000" b="1" dirty="0">
                <a:latin typeface="Times New Roman" panose="02020603050405020304" pitchFamily="18" charset="0"/>
                <a:cs typeface="Times New Roman" panose="02020603050405020304" pitchFamily="18" charset="0"/>
              </a:rPr>
              <a:t>Agentic AI, Machine Learning, Grounded AI, Geospatial Intelligence, Predictive Analytics, and multilingual farmer interaction</a:t>
            </a:r>
            <a:r>
              <a:rPr lang="en-IN" sz="2000" dirty="0">
                <a:latin typeface="Times New Roman" panose="02020603050405020304" pitchFamily="18" charset="0"/>
                <a:cs typeface="Times New Roman" panose="02020603050405020304" pitchFamily="18" charset="0"/>
              </a:rPr>
              <a:t> to address the growing problem of </a:t>
            </a:r>
            <a:r>
              <a:rPr lang="en-IN" sz="2000" b="1" dirty="0">
                <a:latin typeface="Times New Roman" panose="02020603050405020304" pitchFamily="18" charset="0"/>
                <a:cs typeface="Times New Roman" panose="02020603050405020304" pitchFamily="18" charset="0"/>
              </a:rPr>
              <a:t>soil salinity and seawater intrusion in coastal agriculture</a:t>
            </a:r>
            <a:r>
              <a:rPr lang="en-IN" sz="2000" dirty="0">
                <a:latin typeface="Times New Roman" panose="02020603050405020304" pitchFamily="18" charset="0"/>
                <a:cs typeface="Times New Roman" panose="02020603050405020304" pitchFamily="18" charset="0"/>
              </a:rPr>
              <a:t>, with a focus on Gujarat's vulnerable farming regions.</a:t>
            </a:r>
          </a:p>
          <a:p>
            <a:r>
              <a:rPr lang="en-IN" sz="2000" b="1" dirty="0">
                <a:latin typeface="Times New Roman" panose="02020603050405020304" pitchFamily="18" charset="0"/>
                <a:cs typeface="Times New Roman" panose="02020603050405020304" pitchFamily="18" charset="0"/>
              </a:rPr>
              <a:t>Key Novel Features</a:t>
            </a:r>
          </a:p>
          <a:p>
            <a:r>
              <a:rPr lang="en-IN" sz="2000" b="1" dirty="0">
                <a:latin typeface="Times New Roman" panose="02020603050405020304" pitchFamily="18" charset="0"/>
                <a:cs typeface="Times New Roman" panose="02020603050405020304" pitchFamily="18" charset="0"/>
              </a:rPr>
              <a:t>Multi-Agent Intelligence</a:t>
            </a:r>
            <a:r>
              <a:rPr lang="en-IN" sz="2000" dirty="0">
                <a:latin typeface="Times New Roman" panose="02020603050405020304" pitchFamily="18" charset="0"/>
                <a:cs typeface="Times New Roman" panose="02020603050405020304" pitchFamily="18" charset="0"/>
              </a:rPr>
              <a:t> – Specialized AI agents collaborate for </a:t>
            </a:r>
            <a:r>
              <a:rPr lang="en-IN" sz="2000" b="1" dirty="0">
                <a:latin typeface="Times New Roman" panose="02020603050405020304" pitchFamily="18" charset="0"/>
                <a:cs typeface="Times New Roman" panose="02020603050405020304" pitchFamily="18" charset="0"/>
              </a:rPr>
              <a:t>salinity prediction, farm-health analysis, sensor monitoring, forecasting, recommendation, alerts, and decision support</a:t>
            </a:r>
            <a:r>
              <a:rPr lang="en-IN" sz="2000" dirty="0">
                <a:latin typeface="Times New Roman" panose="02020603050405020304" pitchFamily="18" charset="0"/>
                <a:cs typeface="Times New Roman" panose="02020603050405020304" pitchFamily="18" charset="0"/>
              </a:rPr>
              <a:t>, instead of relying on a single chatbot.</a:t>
            </a:r>
          </a:p>
          <a:p>
            <a:r>
              <a:rPr lang="en-IN" sz="2000" b="1" dirty="0">
                <a:latin typeface="Times New Roman" panose="02020603050405020304" pitchFamily="18" charset="0"/>
                <a:cs typeface="Times New Roman" panose="02020603050405020304" pitchFamily="18" charset="0"/>
              </a:rPr>
              <a:t>Grounded AI Recommendations</a:t>
            </a:r>
            <a:r>
              <a:rPr lang="en-IN" sz="2000" dirty="0">
                <a:latin typeface="Times New Roman" panose="02020603050405020304" pitchFamily="18" charset="0"/>
                <a:cs typeface="Times New Roman" panose="02020603050405020304" pitchFamily="18" charset="0"/>
              </a:rPr>
              <a:t> – IBM Granite uses </a:t>
            </a:r>
            <a:r>
              <a:rPr lang="en-IN" sz="2000" b="1" dirty="0">
                <a:latin typeface="Times New Roman" panose="02020603050405020304" pitchFamily="18" charset="0"/>
                <a:cs typeface="Times New Roman" panose="02020603050405020304" pitchFamily="18" charset="0"/>
              </a:rPr>
              <a:t>real-time and historical farm data, sensor readings, crop information, and environmental context</a:t>
            </a:r>
            <a:r>
              <a:rPr lang="en-IN" sz="2000" dirty="0">
                <a:latin typeface="Times New Roman" panose="02020603050405020304" pitchFamily="18" charset="0"/>
                <a:cs typeface="Times New Roman" panose="02020603050405020304" pitchFamily="18" charset="0"/>
              </a:rPr>
              <a:t> to generate reliable, farm-specific insights rather than generic recommendations.</a:t>
            </a:r>
          </a:p>
          <a:p>
            <a:r>
              <a:rPr lang="en-IN" sz="2000" b="1" dirty="0">
                <a:latin typeface="Times New Roman" panose="02020603050405020304" pitchFamily="18" charset="0"/>
                <a:cs typeface="Times New Roman" panose="02020603050405020304" pitchFamily="18" charset="0"/>
              </a:rPr>
              <a:t>Hyper-Localized Agriculture Intelligence</a:t>
            </a:r>
            <a:r>
              <a:rPr lang="en-IN" sz="2000" dirty="0">
                <a:latin typeface="Times New Roman" panose="02020603050405020304" pitchFamily="18" charset="0"/>
                <a:cs typeface="Times New Roman" panose="02020603050405020304" pitchFamily="18" charset="0"/>
              </a:rPr>
              <a:t> – Designed specifically for </a:t>
            </a:r>
            <a:r>
              <a:rPr lang="en-IN" sz="2000" b="1" dirty="0">
                <a:latin typeface="Times New Roman" panose="02020603050405020304" pitchFamily="18" charset="0"/>
                <a:cs typeface="Times New Roman" panose="02020603050405020304" pitchFamily="18" charset="0"/>
              </a:rPr>
              <a:t>Gujarat's coastal farming conditions</a:t>
            </a:r>
            <a:r>
              <a:rPr lang="en-IN" sz="2000" dirty="0">
                <a:latin typeface="Times New Roman" panose="02020603050405020304" pitchFamily="18" charset="0"/>
                <a:cs typeface="Times New Roman" panose="02020603050405020304" pitchFamily="18" charset="0"/>
              </a:rPr>
              <a:t>, considering salinity, soil characteristics, irrigation conditions, crop sensitivity, and coastal vulnerability.</a:t>
            </a:r>
          </a:p>
          <a:p>
            <a:r>
              <a:rPr lang="en-IN" sz="2000" b="1" dirty="0">
                <a:latin typeface="Times New Roman" panose="02020603050405020304" pitchFamily="18" charset="0"/>
                <a:cs typeface="Times New Roman" panose="02020603050405020304" pitchFamily="18" charset="0"/>
              </a:rPr>
              <a:t>Predictive Salinity Protection</a:t>
            </a:r>
            <a:r>
              <a:rPr lang="en-IN" sz="2000" dirty="0">
                <a:latin typeface="Times New Roman" panose="02020603050405020304" pitchFamily="18" charset="0"/>
                <a:cs typeface="Times New Roman" panose="02020603050405020304" pitchFamily="18" charset="0"/>
              </a:rPr>
              <a:t> – Uses Machine Learning to identify </a:t>
            </a:r>
            <a:r>
              <a:rPr lang="en-IN" sz="2000" b="1" dirty="0">
                <a:latin typeface="Times New Roman" panose="02020603050405020304" pitchFamily="18" charset="0"/>
                <a:cs typeface="Times New Roman" panose="02020603050405020304" pitchFamily="18" charset="0"/>
              </a:rPr>
              <a:t>changing salinity patterns and forecast future risk</a:t>
            </a:r>
            <a:r>
              <a:rPr lang="en-IN" sz="2000" dirty="0">
                <a:latin typeface="Times New Roman" panose="02020603050405020304" pitchFamily="18" charset="0"/>
                <a:cs typeface="Times New Roman" panose="02020603050405020304" pitchFamily="18" charset="0"/>
              </a:rPr>
              <a:t>, enabling intervention before severe soil and crop damage occurs.</a:t>
            </a:r>
          </a:p>
          <a:p>
            <a:r>
              <a:rPr lang="en-IN" sz="2000" b="1" dirty="0">
                <a:latin typeface="Times New Roman" panose="02020603050405020304" pitchFamily="18" charset="0"/>
                <a:cs typeface="Times New Roman" panose="02020603050405020304" pitchFamily="18" charset="0"/>
              </a:rPr>
              <a:t>Dynamic Risk Loop</a:t>
            </a:r>
            <a:r>
              <a:rPr lang="en-IN" sz="2000" dirty="0">
                <a:latin typeface="Times New Roman" panose="02020603050405020304" pitchFamily="18" charset="0"/>
                <a:cs typeface="Times New Roman" panose="02020603050405020304" pitchFamily="18" charset="0"/>
              </a:rPr>
              <a:t> – New sensor readings and farm observations continuously update </a:t>
            </a:r>
            <a:r>
              <a:rPr lang="en-IN" sz="2000" b="1" dirty="0">
                <a:latin typeface="Times New Roman" panose="02020603050405020304" pitchFamily="18" charset="0"/>
                <a:cs typeface="Times New Roman" panose="02020603050405020304" pitchFamily="18" charset="0"/>
              </a:rPr>
              <a:t>risk scores, forecasts, alerts, and recommendations</a:t>
            </a:r>
            <a:r>
              <a:rPr lang="en-IN" sz="2000" dirty="0">
                <a:latin typeface="Times New Roman" panose="02020603050405020304" pitchFamily="18" charset="0"/>
                <a:cs typeface="Times New Roman" panose="02020603050405020304" pitchFamily="18" charset="0"/>
              </a:rPr>
              <a:t>, allowing the system to adapt to changing conditions.</a:t>
            </a:r>
          </a:p>
          <a:p>
            <a:r>
              <a:rPr lang="en-IN" sz="2000" b="1" dirty="0">
                <a:latin typeface="Times New Roman" panose="02020603050405020304" pitchFamily="18" charset="0"/>
                <a:cs typeface="Times New Roman" panose="02020603050405020304" pitchFamily="18" charset="0"/>
              </a:rPr>
              <a:t>Multilingual Farmer Assistance</a:t>
            </a:r>
            <a:r>
              <a:rPr lang="en-IN" sz="2000" dirty="0">
                <a:latin typeface="Times New Roman" panose="02020603050405020304" pitchFamily="18" charset="0"/>
                <a:cs typeface="Times New Roman" panose="02020603050405020304" pitchFamily="18" charset="0"/>
              </a:rPr>
              <a:t> – Enables farmers to interact with the AI in </a:t>
            </a:r>
            <a:r>
              <a:rPr lang="en-IN" sz="2000" b="1" dirty="0">
                <a:latin typeface="Times New Roman" panose="02020603050405020304" pitchFamily="18" charset="0"/>
                <a:cs typeface="Times New Roman" panose="02020603050405020304" pitchFamily="18" charset="0"/>
              </a:rPr>
              <a:t>Gujarati, Hindi, and English</a:t>
            </a:r>
            <a:r>
              <a:rPr lang="en-IN" sz="2000" dirty="0">
                <a:latin typeface="Times New Roman" panose="02020603050405020304" pitchFamily="18" charset="0"/>
                <a:cs typeface="Times New Roman" panose="02020603050405020304" pitchFamily="18" charset="0"/>
              </a:rPr>
              <a:t>, making advanced AI-based agricultural intelligence more accessible.</a:t>
            </a:r>
          </a:p>
          <a:p>
            <a:r>
              <a:rPr lang="en-IN" sz="2000" b="1" dirty="0">
                <a:latin typeface="Times New Roman" panose="02020603050405020304" pitchFamily="18" charset="0"/>
                <a:cs typeface="Times New Roman" panose="02020603050405020304" pitchFamily="18" charset="0"/>
              </a:rPr>
              <a:t>Explainable AI Decision Trace</a:t>
            </a:r>
            <a:r>
              <a:rPr lang="en-IN" sz="2000" dirty="0">
                <a:latin typeface="Times New Roman" panose="02020603050405020304" pitchFamily="18" charset="0"/>
                <a:cs typeface="Times New Roman" panose="02020603050405020304" pitchFamily="18" charset="0"/>
              </a:rPr>
              <a:t> – Unlike a black-box recommendation system, the platform explains the chain of </a:t>
            </a:r>
            <a:r>
              <a:rPr lang="en-IN" sz="2000" b="1" dirty="0">
                <a:latin typeface="Times New Roman" panose="02020603050405020304" pitchFamily="18" charset="0"/>
                <a:cs typeface="Times New Roman" panose="02020603050405020304" pitchFamily="18" charset="0"/>
              </a:rPr>
              <a:t>observation → analysis → risk → recommendation</a:t>
            </a:r>
            <a:r>
              <a:rPr lang="en-IN" sz="2000" dirty="0">
                <a:latin typeface="Times New Roman" panose="02020603050405020304" pitchFamily="18" charset="0"/>
                <a:cs typeface="Times New Roman" panose="02020603050405020304" pitchFamily="18" charset="0"/>
              </a:rPr>
              <a:t>, increasing transparency and trust.</a:t>
            </a:r>
          </a:p>
          <a:p>
            <a:r>
              <a:rPr lang="en-IN" sz="2000" b="1" dirty="0">
                <a:latin typeface="Times New Roman" panose="02020603050405020304" pitchFamily="18" charset="0"/>
                <a:cs typeface="Times New Roman" panose="02020603050405020304" pitchFamily="18" charset="0"/>
              </a:rPr>
              <a:t>What-If Decision Intelligence</a:t>
            </a:r>
            <a:r>
              <a:rPr lang="en-IN" sz="2000" dirty="0">
                <a:latin typeface="Times New Roman" panose="02020603050405020304" pitchFamily="18" charset="0"/>
                <a:cs typeface="Times New Roman" panose="02020603050405020304" pitchFamily="18" charset="0"/>
              </a:rPr>
              <a:t> – Farmers and agricultural officers can test potential interventions and understand their possible impact on </a:t>
            </a:r>
            <a:r>
              <a:rPr lang="en-IN" sz="2000" b="1" dirty="0">
                <a:latin typeface="Times New Roman" panose="02020603050405020304" pitchFamily="18" charset="0"/>
                <a:cs typeface="Times New Roman" panose="02020603050405020304" pitchFamily="18" charset="0"/>
              </a:rPr>
              <a:t>salinity, farm health, and future risk</a:t>
            </a:r>
            <a:r>
              <a:rPr lang="en-IN" sz="2000" dirty="0">
                <a:latin typeface="Times New Roman" panose="02020603050405020304" pitchFamily="18" charset="0"/>
                <a:cs typeface="Times New Roman" panose="02020603050405020304" pitchFamily="18" charset="0"/>
              </a:rPr>
              <a:t> before taking action.</a:t>
            </a:r>
          </a:p>
          <a:p>
            <a:r>
              <a:rPr lang="en-IN" sz="2000" b="1" dirty="0">
                <a:latin typeface="Times New Roman" panose="02020603050405020304" pitchFamily="18" charset="0"/>
                <a:cs typeface="Times New Roman" panose="02020603050405020304" pitchFamily="18" charset="0"/>
              </a:rPr>
              <a:t>Geospatial Salinity Intelligence</a:t>
            </a:r>
            <a:r>
              <a:rPr lang="en-IN" sz="2000" dirty="0">
                <a:latin typeface="Times New Roman" panose="02020603050405020304" pitchFamily="18" charset="0"/>
                <a:cs typeface="Times New Roman" panose="02020603050405020304" pitchFamily="18" charset="0"/>
              </a:rPr>
              <a:t> – Interactive maps identify </a:t>
            </a:r>
            <a:r>
              <a:rPr lang="en-IN" sz="2000" b="1" dirty="0">
                <a:latin typeface="Times New Roman" panose="02020603050405020304" pitchFamily="18" charset="0"/>
                <a:cs typeface="Times New Roman" panose="02020603050405020304" pitchFamily="18" charset="0"/>
              </a:rPr>
              <a:t>salinity hotspots, high-risk farms, critical zones, and regional patterns</a:t>
            </a:r>
            <a:r>
              <a:rPr lang="en-IN" sz="2000" dirty="0">
                <a:latin typeface="Times New Roman" panose="02020603050405020304" pitchFamily="18" charset="0"/>
                <a:cs typeface="Times New Roman" panose="02020603050405020304" pitchFamily="18" charset="0"/>
              </a:rPr>
              <a:t>, enabling targeted intervention instead of treating every farm equally.</a:t>
            </a:r>
          </a:p>
          <a:p>
            <a:r>
              <a:rPr lang="en-IN" sz="2000" b="1" dirty="0">
                <a:latin typeface="Times New Roman" panose="02020603050405020304" pitchFamily="18" charset="0"/>
                <a:cs typeface="Times New Roman" panose="02020603050405020304" pitchFamily="18" charset="0"/>
              </a:rPr>
              <a:t>Action-Oriented Decision Support</a:t>
            </a:r>
            <a:r>
              <a:rPr lang="en-IN" sz="2000" dirty="0">
                <a:latin typeface="Times New Roman" panose="02020603050405020304" pitchFamily="18" charset="0"/>
                <a:cs typeface="Times New Roman" panose="02020603050405020304" pitchFamily="18" charset="0"/>
              </a:rPr>
              <a:t> – Converts complex sensor and prediction data into </a:t>
            </a:r>
            <a:r>
              <a:rPr lang="en-IN" sz="2000" b="1" dirty="0">
                <a:latin typeface="Times New Roman" panose="02020603050405020304" pitchFamily="18" charset="0"/>
                <a:cs typeface="Times New Roman" panose="02020603050405020304" pitchFamily="18" charset="0"/>
              </a:rPr>
              <a:t>prioritized alerts, practical recommendations, and intervention guidance</a:t>
            </a:r>
            <a:r>
              <a:rPr lang="en-IN" sz="2000" dirty="0">
                <a:latin typeface="Times New Roman" panose="02020603050405020304" pitchFamily="18" charset="0"/>
                <a:cs typeface="Times New Roman" panose="02020603050405020304" pitchFamily="18" charset="0"/>
              </a:rPr>
              <a:t>.</a:t>
            </a:r>
          </a:p>
          <a:p>
            <a:r>
              <a:rPr lang="en-IN" sz="2000" b="1" dirty="0">
                <a:latin typeface="Times New Roman" panose="02020603050405020304" pitchFamily="18" charset="0"/>
                <a:cs typeface="Times New Roman" panose="02020603050405020304" pitchFamily="18" charset="0"/>
              </a:rPr>
              <a:t>Scalable IBM Architecture</a:t>
            </a:r>
            <a:r>
              <a:rPr lang="en-IN" sz="2000" dirty="0">
                <a:latin typeface="Times New Roman" panose="02020603050405020304" pitchFamily="18" charset="0"/>
                <a:cs typeface="Times New Roman" panose="02020603050405020304" pitchFamily="18" charset="0"/>
              </a:rPr>
              <a:t> – Built around </a:t>
            </a:r>
            <a:r>
              <a:rPr lang="en-IN" sz="2000" b="1" dirty="0">
                <a:latin typeface="Times New Roman" panose="02020603050405020304" pitchFamily="18" charset="0"/>
                <a:cs typeface="Times New Roman" panose="02020603050405020304" pitchFamily="18" charset="0"/>
              </a:rPr>
              <a:t>IBM Granite, IBM Cloud, and agentic AI workflows</a:t>
            </a:r>
            <a:r>
              <a:rPr lang="en-IN" sz="2000" dirty="0">
                <a:latin typeface="Times New Roman" panose="02020603050405020304" pitchFamily="18" charset="0"/>
                <a:cs typeface="Times New Roman" panose="02020603050405020304" pitchFamily="18" charset="0"/>
              </a:rPr>
              <a:t>, with modular components that can later integrate real IoT sensors, satellite data, weather information, and larger regional datasets.</a:t>
            </a:r>
          </a:p>
          <a:p>
            <a:endParaRPr lang="en-IN"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3781" y="275000"/>
            <a:ext cx="10057645" cy="722158"/>
          </a:xfrm>
          <a:prstGeom prst="rect">
            <a:avLst/>
          </a:prstGeom>
        </p:spPr>
        <p:txBody>
          <a:bodyPr vert="horz" wrap="square" lIns="0" tIns="105574" rIns="0" bIns="0" rtlCol="0">
            <a:spAutoFit/>
          </a:bodyPr>
          <a:lstStyle/>
          <a:p>
            <a:pPr marL="684530">
              <a:lnSpc>
                <a:spcPct val="100000"/>
              </a:lnSpc>
              <a:spcBef>
                <a:spcPts val="100"/>
              </a:spcBef>
            </a:pPr>
            <a:r>
              <a:rPr sz="4000" dirty="0">
                <a:latin typeface="Times New Roman" panose="02020603050405020304" pitchFamily="18" charset="0"/>
                <a:cs typeface="Times New Roman" panose="02020603050405020304" pitchFamily="18" charset="0"/>
              </a:rPr>
              <a:t>Git</a:t>
            </a:r>
            <a:r>
              <a:rPr sz="4000" spc="-4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Hub</a:t>
            </a:r>
            <a:r>
              <a:rPr sz="4000" spc="-40" dirty="0">
                <a:latin typeface="Times New Roman" panose="02020603050405020304" pitchFamily="18" charset="0"/>
                <a:cs typeface="Times New Roman" panose="02020603050405020304" pitchFamily="18" charset="0"/>
              </a:rPr>
              <a:t> </a:t>
            </a:r>
            <a:r>
              <a:rPr sz="4000" spc="-20" dirty="0">
                <a:latin typeface="Times New Roman" panose="02020603050405020304" pitchFamily="18" charset="0"/>
                <a:cs typeface="Times New Roman" panose="02020603050405020304" pitchFamily="18" charset="0"/>
              </a:rPr>
              <a:t>Link</a:t>
            </a:r>
            <a:endParaRPr sz="4000" dirty="0">
              <a:latin typeface="Times New Roman" panose="02020603050405020304" pitchFamily="18" charset="0"/>
              <a:cs typeface="Times New Roman" panose="02020603050405020304" pitchFamily="18" charset="0"/>
            </a:endParaRPr>
          </a:p>
        </p:txBody>
      </p:sp>
      <p:sp>
        <p:nvSpPr>
          <p:cNvPr id="12" name="object 12"/>
          <p:cNvSpPr txBox="1"/>
          <p:nvPr/>
        </p:nvSpPr>
        <p:spPr>
          <a:xfrm>
            <a:off x="1815386" y="8097173"/>
            <a:ext cx="142875" cy="448309"/>
          </a:xfrm>
          <a:prstGeom prst="rect">
            <a:avLst/>
          </a:prstGeom>
        </p:spPr>
        <p:txBody>
          <a:bodyPr vert="horz" wrap="square" lIns="0" tIns="15875" rIns="0" bIns="0" rtlCol="0">
            <a:spAutoFit/>
          </a:bodyPr>
          <a:lstStyle/>
          <a:p>
            <a:pPr marL="12700">
              <a:lnSpc>
                <a:spcPct val="100000"/>
              </a:lnSpc>
              <a:spcBef>
                <a:spcPts val="125"/>
              </a:spcBef>
            </a:pPr>
            <a:r>
              <a:rPr sz="2750" spc="-50" dirty="0">
                <a:solidFill>
                  <a:srgbClr val="2A3440"/>
                </a:solidFill>
                <a:latin typeface="Times New Roman"/>
                <a:cs typeface="Times New Roman"/>
              </a:rPr>
              <a:t>·</a:t>
            </a:r>
            <a:endParaRPr sz="2750">
              <a:latin typeface="Times New Roman"/>
              <a:cs typeface="Times New Roman"/>
            </a:endParaRPr>
          </a:p>
        </p:txBody>
      </p:sp>
      <p:sp>
        <p:nvSpPr>
          <p:cNvPr id="13" name="TextBox 12">
            <a:extLst>
              <a:ext uri="{FF2B5EF4-FFF2-40B4-BE49-F238E27FC236}">
                <a16:creationId xmlns:a16="http://schemas.microsoft.com/office/drawing/2014/main" id="{0A561787-36BC-3D29-5647-17FF2F7B9801}"/>
              </a:ext>
            </a:extLst>
          </p:cNvPr>
          <p:cNvSpPr txBox="1"/>
          <p:nvPr/>
        </p:nvSpPr>
        <p:spPr>
          <a:xfrm>
            <a:off x="724782" y="1333500"/>
            <a:ext cx="17563218" cy="6124754"/>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GitHub Repository : </a:t>
            </a:r>
          </a:p>
          <a:p>
            <a:r>
              <a:rPr lang="en-US" sz="2800" dirty="0">
                <a:latin typeface="Times New Roman" panose="02020603050405020304" pitchFamily="18" charset="0"/>
                <a:cs typeface="Times New Roman" panose="02020603050405020304" pitchFamily="18" charset="0"/>
              </a:rPr>
              <a:t>Public GitHub Repository :</a:t>
            </a:r>
          </a:p>
          <a:p>
            <a:r>
              <a:rPr lang="en-IN" sz="2800" dirty="0">
                <a:latin typeface="Times New Roman" panose="02020603050405020304" pitchFamily="18" charset="0"/>
                <a:cs typeface="Times New Roman" panose="02020603050405020304" pitchFamily="18" charset="0"/>
                <a:hlinkClick r:id="rId2"/>
              </a:rPr>
              <a:t>https://github.com/VyasVraj/-Smart-Salinity-Ingress-Coastal-Farmland-Protection-Advisor-.git</a:t>
            </a:r>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The repository contains the complete </a:t>
            </a:r>
            <a:r>
              <a:rPr lang="en-US" sz="2800" dirty="0">
                <a:latin typeface="Times New Roman" panose="02020603050405020304" pitchFamily="18" charset="0"/>
                <a:cs typeface="Times New Roman" panose="02020603050405020304" pitchFamily="18" charset="0"/>
              </a:rPr>
              <a:t>Smart Salinity Ingress &amp; Coastal Farmland Protection Advisor project and submission materials.</a:t>
            </a:r>
          </a:p>
          <a:p>
            <a:r>
              <a:rPr lang="en-US" sz="2800" dirty="0">
                <a:latin typeface="Times New Roman" panose="02020603050405020304" pitchFamily="18" charset="0"/>
                <a:cs typeface="Times New Roman" panose="02020603050405020304" pitchFamily="18" charset="0"/>
              </a:rPr>
              <a:t>Repository contents</a:t>
            </a:r>
          </a:p>
          <a:p>
            <a:pPr marL="285750" indent="-28575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Source</a:t>
            </a:r>
            <a:r>
              <a:rPr lang="en-IN" sz="2800" spc="-20"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Code</a:t>
            </a:r>
            <a:r>
              <a:rPr lang="en-IN" sz="2800" spc="-15"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a:t>
            </a:r>
            <a:r>
              <a:rPr lang="en-IN" sz="2800" spc="-15"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Complete</a:t>
            </a:r>
            <a:r>
              <a:rPr lang="en-IN" sz="2800" spc="-15"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Streamlit</a:t>
            </a:r>
            <a:r>
              <a:rPr lang="en-IN" sz="2800" spc="-20"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application</a:t>
            </a:r>
            <a:r>
              <a:rPr lang="en-IN" sz="2800" spc="-15"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and</a:t>
            </a:r>
            <a:r>
              <a:rPr lang="en-IN" sz="2800" spc="-15"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project</a:t>
            </a:r>
            <a:r>
              <a:rPr lang="en-IN" sz="2800" spc="-15" dirty="0">
                <a:latin typeface="Times New Roman" panose="02020603050405020304" pitchFamily="18" charset="0"/>
                <a:cs typeface="Times New Roman" panose="02020603050405020304" pitchFamily="18" charset="0"/>
              </a:rPr>
              <a:t> </a:t>
            </a:r>
            <a:r>
              <a:rPr lang="en-IN" sz="2800" spc="-10" dirty="0">
                <a:latin typeface="Times New Roman" panose="02020603050405020304" pitchFamily="18" charset="0"/>
                <a:cs typeface="Times New Roman" panose="02020603050405020304" pitchFamily="18" charset="0"/>
              </a:rPr>
              <a:t>files</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README.md</a:t>
            </a:r>
            <a:r>
              <a:rPr lang="en-US" sz="2800" spc="-2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t>
            </a:r>
            <a:r>
              <a:rPr lang="en-US" sz="2800" spc="-2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Project</a:t>
            </a:r>
            <a:r>
              <a:rPr lang="en-US" sz="2800" spc="-2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overview,</a:t>
            </a:r>
            <a:r>
              <a:rPr lang="en-US" sz="2800" spc="-15"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setup</a:t>
            </a:r>
            <a:r>
              <a:rPr lang="en-US" sz="2800" spc="-2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instructions,</a:t>
            </a:r>
            <a:r>
              <a:rPr lang="en-US" sz="2800" spc="-2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architecture,</a:t>
            </a:r>
            <a:r>
              <a:rPr lang="en-US" sz="2800" spc="-2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and</a:t>
            </a:r>
            <a:r>
              <a:rPr lang="en-US" sz="2800" spc="-15" dirty="0">
                <a:latin typeface="Times New Roman" panose="02020603050405020304" pitchFamily="18" charset="0"/>
                <a:cs typeface="Times New Roman" panose="02020603050405020304" pitchFamily="18" charset="0"/>
              </a:rPr>
              <a:t> </a:t>
            </a:r>
            <a:r>
              <a:rPr lang="en-US" sz="2800" spc="-10" dirty="0">
                <a:latin typeface="Times New Roman" panose="02020603050405020304" pitchFamily="18" charset="0"/>
                <a:cs typeface="Times New Roman" panose="02020603050405020304" pitchFamily="18" charset="0"/>
              </a:rPr>
              <a:t>usage</a:t>
            </a:r>
          </a:p>
          <a:p>
            <a:pPr marL="285750" indent="-285750">
              <a:buFont typeface="Arial" panose="020B0604020202020204" pitchFamily="34" charset="0"/>
              <a:buChar char="•"/>
            </a:pPr>
            <a:r>
              <a:rPr lang="en-IN" sz="2800" dirty="0" err="1">
                <a:latin typeface="Times New Roman" panose="02020603050405020304" pitchFamily="18" charset="0"/>
                <a:cs typeface="Times New Roman" panose="02020603050405020304" pitchFamily="18" charset="0"/>
              </a:rPr>
              <a:t>app.json</a:t>
            </a:r>
            <a:r>
              <a:rPr lang="en-IN" sz="2800" spc="-20"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a:t>
            </a:r>
            <a:r>
              <a:rPr lang="en-IN" sz="2800" spc="-15"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Application</a:t>
            </a:r>
            <a:r>
              <a:rPr lang="en-IN" sz="2800" spc="-20" dirty="0">
                <a:latin typeface="Times New Roman" panose="02020603050405020304" pitchFamily="18" charset="0"/>
                <a:cs typeface="Times New Roman" panose="02020603050405020304" pitchFamily="18" charset="0"/>
              </a:rPr>
              <a:t> </a:t>
            </a:r>
            <a:r>
              <a:rPr lang="en-IN" sz="2800" spc="-10" dirty="0">
                <a:latin typeface="Times New Roman" panose="02020603050405020304" pitchFamily="18" charset="0"/>
                <a:cs typeface="Times New Roman" panose="02020603050405020304" pitchFamily="18" charset="0"/>
              </a:rPr>
              <a:t>configuration</a:t>
            </a:r>
            <a:endParaRPr lang="en-IN"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Problem</a:t>
            </a:r>
            <a:r>
              <a:rPr lang="en-US" sz="2800" spc="-25"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Statement</a:t>
            </a:r>
            <a:r>
              <a:rPr lang="en-US" sz="2800" spc="-15"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PDF</a:t>
            </a:r>
            <a:r>
              <a:rPr lang="en-US" sz="2800" spc="-15"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t>
            </a:r>
            <a:r>
              <a:rPr lang="en-US" sz="2800" spc="-15"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Official</a:t>
            </a:r>
            <a:r>
              <a:rPr lang="en-US" sz="2800" spc="-2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challenge/problem</a:t>
            </a:r>
            <a:r>
              <a:rPr lang="en-US" sz="2800" spc="-20" dirty="0">
                <a:latin typeface="Times New Roman" panose="02020603050405020304" pitchFamily="18" charset="0"/>
                <a:cs typeface="Times New Roman" panose="02020603050405020304" pitchFamily="18" charset="0"/>
              </a:rPr>
              <a:t> </a:t>
            </a:r>
            <a:r>
              <a:rPr lang="en-US" sz="2800" spc="-10" dirty="0">
                <a:latin typeface="Times New Roman" panose="02020603050405020304" pitchFamily="18" charset="0"/>
                <a:cs typeface="Times New Roman" panose="02020603050405020304" pitchFamily="18" charset="0"/>
              </a:rPr>
              <a:t>statement</a:t>
            </a:r>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Project</a:t>
            </a:r>
            <a:r>
              <a:rPr lang="en-IN" sz="2800" spc="-5"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Presentation PPTX</a:t>
            </a:r>
            <a:r>
              <a:rPr lang="en-IN" sz="2800" spc="-5"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a:t>
            </a:r>
            <a:r>
              <a:rPr lang="en-IN" sz="2800" spc="-5"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Final hackathon </a:t>
            </a:r>
            <a:r>
              <a:rPr lang="en-IN" sz="2800" spc="-10" dirty="0">
                <a:latin typeface="Times New Roman" panose="02020603050405020304" pitchFamily="18" charset="0"/>
                <a:cs typeface="Times New Roman" panose="02020603050405020304" pitchFamily="18" charset="0"/>
              </a:rPr>
              <a:t>presentation</a:t>
            </a:r>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Working</a:t>
            </a:r>
            <a:r>
              <a:rPr lang="en-IN" sz="2800" spc="-25"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GitHub</a:t>
            </a:r>
            <a:r>
              <a:rPr lang="en-IN" sz="2800" spc="-20" dirty="0">
                <a:latin typeface="Times New Roman" panose="02020603050405020304" pitchFamily="18" charset="0"/>
                <a:cs typeface="Times New Roman" panose="02020603050405020304" pitchFamily="18" charset="0"/>
              </a:rPr>
              <a:t> URL :</a:t>
            </a:r>
          </a:p>
          <a:p>
            <a:r>
              <a:rPr lang="en-IN" sz="2800" dirty="0">
                <a:latin typeface="Times New Roman" panose="02020603050405020304" pitchFamily="18" charset="0"/>
                <a:cs typeface="Times New Roman" panose="02020603050405020304" pitchFamily="18" charset="0"/>
                <a:hlinkClick r:id="rId2"/>
              </a:rPr>
              <a:t>https://github.com/VyasVraj/-Smart-Salinity-Ingress-Coastal-Farmland-Protection-Advisor-.git</a:t>
            </a:r>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3781" y="275000"/>
            <a:ext cx="10057645" cy="722158"/>
          </a:xfrm>
          <a:prstGeom prst="rect">
            <a:avLst/>
          </a:prstGeom>
        </p:spPr>
        <p:txBody>
          <a:bodyPr vert="horz" wrap="square" lIns="0" tIns="105574" rIns="0" bIns="0" rtlCol="0">
            <a:spAutoFit/>
          </a:bodyPr>
          <a:lstStyle/>
          <a:p>
            <a:pPr marL="684530">
              <a:lnSpc>
                <a:spcPct val="100000"/>
              </a:lnSpc>
              <a:spcBef>
                <a:spcPts val="100"/>
              </a:spcBef>
            </a:pPr>
            <a:r>
              <a:rPr lang="en-IN" sz="4000" dirty="0">
                <a:latin typeface="Times New Roman" panose="02020603050405020304" pitchFamily="18" charset="0"/>
                <a:cs typeface="Times New Roman" panose="02020603050405020304" pitchFamily="18" charset="0"/>
              </a:rPr>
              <a:t>FUTURE</a:t>
            </a:r>
            <a:r>
              <a:rPr lang="en-IN" sz="4000" spc="-80" dirty="0">
                <a:latin typeface="Times New Roman" panose="02020603050405020304" pitchFamily="18" charset="0"/>
                <a:cs typeface="Times New Roman" panose="02020603050405020304" pitchFamily="18" charset="0"/>
              </a:rPr>
              <a:t> </a:t>
            </a:r>
            <a:r>
              <a:rPr lang="en-IN" sz="4000" spc="-20" dirty="0">
                <a:latin typeface="Times New Roman" panose="02020603050405020304" pitchFamily="18" charset="0"/>
                <a:cs typeface="Times New Roman" panose="02020603050405020304" pitchFamily="18" charset="0"/>
              </a:rPr>
              <a:t>SCOPE</a:t>
            </a:r>
            <a:endParaRPr lang="en-IN" sz="40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1303594" y="1725095"/>
            <a:ext cx="16180435" cy="5185393"/>
          </a:xfrm>
          <a:prstGeom prst="rect">
            <a:avLst/>
          </a:prstGeom>
        </p:spPr>
        <p:txBody>
          <a:bodyPr vert="horz" wrap="square" lIns="0" tIns="14604" rIns="0" bIns="0" rtlCol="0">
            <a:spAutoFit/>
          </a:bodyPr>
          <a:lstStyle/>
          <a:p>
            <a:pPr lvl="0"/>
            <a:r>
              <a:rPr lang="en-IN" sz="2800" b="1" dirty="0">
                <a:latin typeface="Times New Roman" panose="02020603050405020304" pitchFamily="18" charset="0"/>
                <a:cs typeface="Times New Roman" panose="02020603050405020304" pitchFamily="18" charset="0"/>
              </a:rPr>
              <a:t>Real-Time IoT Integration</a:t>
            </a:r>
            <a:r>
              <a:rPr lang="en-IN" sz="2800" dirty="0">
                <a:latin typeface="Times New Roman" panose="02020603050405020304" pitchFamily="18" charset="0"/>
                <a:cs typeface="Times New Roman" panose="02020603050405020304" pitchFamily="18" charset="0"/>
              </a:rPr>
              <a:t> – Connect the platform with real soil and water sensors for continuous monitoring of EC, pH, moisture, and other parameters. </a:t>
            </a:r>
          </a:p>
          <a:p>
            <a:pPr lvl="0"/>
            <a:r>
              <a:rPr lang="en-IN" sz="2800" b="1" dirty="0">
                <a:latin typeface="Times New Roman" panose="02020603050405020304" pitchFamily="18" charset="0"/>
                <a:cs typeface="Times New Roman" panose="02020603050405020304" pitchFamily="18" charset="0"/>
              </a:rPr>
              <a:t>Satellite &amp; Remote Sensing</a:t>
            </a:r>
            <a:r>
              <a:rPr lang="en-IN" sz="2800" dirty="0">
                <a:latin typeface="Times New Roman" panose="02020603050405020304" pitchFamily="18" charset="0"/>
                <a:cs typeface="Times New Roman" panose="02020603050405020304" pitchFamily="18" charset="0"/>
              </a:rPr>
              <a:t> – Integrate satellite imagery to detect large-scale salinity hotspots and monitor changes in coastal agricultural land. </a:t>
            </a:r>
          </a:p>
          <a:p>
            <a:pPr lvl="0"/>
            <a:r>
              <a:rPr lang="en-IN" sz="2800" b="1" dirty="0">
                <a:latin typeface="Times New Roman" panose="02020603050405020304" pitchFamily="18" charset="0"/>
                <a:cs typeface="Times New Roman" panose="02020603050405020304" pitchFamily="18" charset="0"/>
              </a:rPr>
              <a:t>Advanced AI Forecasting</a:t>
            </a:r>
            <a:r>
              <a:rPr lang="en-IN" sz="2800" dirty="0">
                <a:latin typeface="Times New Roman" panose="02020603050405020304" pitchFamily="18" charset="0"/>
                <a:cs typeface="Times New Roman" panose="02020603050405020304" pitchFamily="18" charset="0"/>
              </a:rPr>
              <a:t> – Improve prediction of future salinity and seawater-intrusion risks using long-term weather, groundwater, and environmental data. </a:t>
            </a:r>
          </a:p>
          <a:p>
            <a:pPr lvl="0"/>
            <a:r>
              <a:rPr lang="en-IN" sz="2800" b="1" dirty="0">
                <a:latin typeface="Times New Roman" panose="02020603050405020304" pitchFamily="18" charset="0"/>
                <a:cs typeface="Times New Roman" panose="02020603050405020304" pitchFamily="18" charset="0"/>
              </a:rPr>
              <a:t>Personalized Crop &amp; Irrigation Recommendations</a:t>
            </a:r>
            <a:r>
              <a:rPr lang="en-IN" sz="2800" dirty="0">
                <a:latin typeface="Times New Roman" panose="02020603050405020304" pitchFamily="18" charset="0"/>
                <a:cs typeface="Times New Roman" panose="02020603050405020304" pitchFamily="18" charset="0"/>
              </a:rPr>
              <a:t> – Recommend suitable salt-tolerant crops and optimized irrigation strategies based on individual farm conditions. </a:t>
            </a:r>
          </a:p>
          <a:p>
            <a:pPr lvl="0"/>
            <a:r>
              <a:rPr lang="en-IN" sz="2800" b="1" dirty="0">
                <a:latin typeface="Times New Roman" panose="02020603050405020304" pitchFamily="18" charset="0"/>
                <a:cs typeface="Times New Roman" panose="02020603050405020304" pitchFamily="18" charset="0"/>
              </a:rPr>
              <a:t>Regional Expansion</a:t>
            </a:r>
            <a:r>
              <a:rPr lang="en-IN" sz="2800" dirty="0">
                <a:latin typeface="Times New Roman" panose="02020603050405020304" pitchFamily="18" charset="0"/>
                <a:cs typeface="Times New Roman" panose="02020603050405020304" pitchFamily="18" charset="0"/>
              </a:rPr>
              <a:t> – Scale from individual farms to </a:t>
            </a:r>
            <a:r>
              <a:rPr lang="en-IN" sz="2800" b="1" dirty="0">
                <a:latin typeface="Times New Roman" panose="02020603050405020304" pitchFamily="18" charset="0"/>
                <a:cs typeface="Times New Roman" panose="02020603050405020304" pitchFamily="18" charset="0"/>
              </a:rPr>
              <a:t>district- and state-level salinity monitoring</a:t>
            </a:r>
            <a:r>
              <a:rPr lang="en-IN" sz="2800" dirty="0">
                <a:latin typeface="Times New Roman" panose="02020603050405020304" pitchFamily="18" charset="0"/>
                <a:cs typeface="Times New Roman" panose="02020603050405020304" pitchFamily="18" charset="0"/>
              </a:rPr>
              <a:t>, helping government authorities plan targeted interventions. </a:t>
            </a:r>
          </a:p>
          <a:p>
            <a:pPr lvl="0"/>
            <a:r>
              <a:rPr lang="en-IN" sz="2800" b="1" dirty="0">
                <a:latin typeface="Times New Roman" panose="02020603050405020304" pitchFamily="18" charset="0"/>
                <a:cs typeface="Times New Roman" panose="02020603050405020304" pitchFamily="18" charset="0"/>
              </a:rPr>
              <a:t>Farmer Mobile &amp; Voice Assistant</a:t>
            </a:r>
            <a:r>
              <a:rPr lang="en-IN" sz="2800" dirty="0">
                <a:latin typeface="Times New Roman" panose="02020603050405020304" pitchFamily="18" charset="0"/>
                <a:cs typeface="Times New Roman" panose="02020603050405020304" pitchFamily="18" charset="0"/>
              </a:rPr>
              <a:t> – Extend the AI advisor into a mobile/voice-based system supporting </a:t>
            </a:r>
            <a:r>
              <a:rPr lang="en-IN" sz="2800" b="1" dirty="0">
                <a:latin typeface="Times New Roman" panose="02020603050405020304" pitchFamily="18" charset="0"/>
                <a:cs typeface="Times New Roman" panose="02020603050405020304" pitchFamily="18" charset="0"/>
              </a:rPr>
              <a:t>Gujarati, Hindi, and English</a:t>
            </a:r>
            <a:r>
              <a:rPr lang="en-IN" sz="2800" dirty="0">
                <a:latin typeface="Times New Roman" panose="02020603050405020304" pitchFamily="18" charset="0"/>
                <a:cs typeface="Times New Roman" panose="02020603050405020304" pitchFamily="18" charset="0"/>
              </a:rPr>
              <a:t> for easier access in rural areas.</a:t>
            </a:r>
          </a:p>
        </p:txBody>
      </p:sp>
      <p:sp>
        <p:nvSpPr>
          <p:cNvPr id="4" name="object 4"/>
          <p:cNvSpPr txBox="1"/>
          <p:nvPr/>
        </p:nvSpPr>
        <p:spPr>
          <a:xfrm>
            <a:off x="1815386" y="8097173"/>
            <a:ext cx="142875" cy="448309"/>
          </a:xfrm>
          <a:prstGeom prst="rect">
            <a:avLst/>
          </a:prstGeom>
        </p:spPr>
        <p:txBody>
          <a:bodyPr vert="horz" wrap="square" lIns="0" tIns="15875" rIns="0" bIns="0" rtlCol="0">
            <a:spAutoFit/>
          </a:bodyPr>
          <a:lstStyle/>
          <a:p>
            <a:pPr marL="12700">
              <a:lnSpc>
                <a:spcPct val="100000"/>
              </a:lnSpc>
              <a:spcBef>
                <a:spcPts val="125"/>
              </a:spcBef>
            </a:pPr>
            <a:r>
              <a:rPr sz="2750" spc="-50" dirty="0">
                <a:solidFill>
                  <a:srgbClr val="2A3440"/>
                </a:solidFill>
                <a:latin typeface="Times New Roman"/>
                <a:cs typeface="Times New Roman"/>
              </a:rPr>
              <a:t>·</a:t>
            </a:r>
            <a:endParaRPr sz="2750">
              <a:latin typeface="Times New Roman"/>
              <a:cs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2754507"/>
            <a:ext cx="17865504" cy="371608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132</TotalTime>
  <Words>2637</Words>
  <Application>Microsoft Office PowerPoint</Application>
  <PresentationFormat>Custom</PresentationFormat>
  <Paragraphs>368</Paragraphs>
  <Slides>54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Times New Roman</vt:lpstr>
      <vt:lpstr>Office Theme</vt:lpstr>
      <vt:lpstr>IBM University Engagement Project Submission</vt:lpstr>
      <vt:lpstr>PowerPoint Presentation</vt:lpstr>
      <vt:lpstr>Problem Statement - Smart Salinity Ingress &amp; Coastal Farmland Protection Advisor </vt:lpstr>
      <vt:lpstr>PROPOSED SOLUTION : Smart Salinity Ingress &amp; Coastal Farmland Protection Advisor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TECHNOLOGY USED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 OF AGENTIC AI IN SOLUTION</vt:lpstr>
      <vt:lpstr>PowerPoint Presentation</vt:lpstr>
      <vt:lpstr>NOVELTY AND UNIQUENESS</vt:lpstr>
      <vt:lpstr>Git Hub Link</vt:lpstr>
      <vt:lpstr>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FLOODGUARD_AI_Hackathon_Submission.pptx</dc:title>
  <dc:creator>GROK</dc:creator>
  <cp:keywords>DAHR-OZrWic,BAHR-KVxkWw</cp:keywords>
  <cp:lastModifiedBy>Vyas Vraj</cp:lastModifiedBy>
  <cp:revision>9</cp:revision>
  <dcterms:created xsi:type="dcterms:W3CDTF">2026-08-14T22:23:40Z</dcterms:created>
  <dcterms:modified xsi:type="dcterms:W3CDTF">2026-08-30T12:30:45Z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2026-08-14T00:00:00Z</vt:filetime>
  </property>
  <property fmtid="{D5CDD505-2E9C-101B-9397-08002B2CF9AE}" pid="3" name="Creator">
    <vt:lpwstr>Canva</vt:lpwstr>
  </property>
  <property fmtid="{D5CDD505-2E9C-101B-9397-08002B2CF9AE}" pid="4" name="LastSaved">
    <vt:filetime>2026-08-14T00:00:00Z</vt:filetime>
  </property>
  <property fmtid="{D5CDD505-2E9C-101B-9397-08002B2CF9AE}" pid="5" name="Producer">
    <vt:lpwstr>iLovePDF</vt:lpwstr>
  </property>
</Properties>
</file>